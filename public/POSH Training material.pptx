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147483564" r:id="rId2"/>
    <p:sldId id="2147483597" r:id="rId3"/>
    <p:sldId id="2147483563" r:id="rId4"/>
    <p:sldId id="2147483600" r:id="rId5"/>
    <p:sldId id="2147483599" r:id="rId6"/>
    <p:sldId id="2147483598" r:id="rId7"/>
    <p:sldId id="2147483601" r:id="rId8"/>
    <p:sldId id="2147483602" r:id="rId9"/>
    <p:sldId id="2147483603" r:id="rId10"/>
    <p:sldId id="2147483604" r:id="rId11"/>
    <p:sldId id="2147483605" r:id="rId12"/>
    <p:sldId id="2147483606" r:id="rId13"/>
    <p:sldId id="2147483607" r:id="rId14"/>
    <p:sldId id="2147483608" r:id="rId15"/>
    <p:sldId id="2147483609" r:id="rId16"/>
    <p:sldId id="2147483610" r:id="rId17"/>
    <p:sldId id="2147483611" r:id="rId18"/>
    <p:sldId id="2147483612" r:id="rId19"/>
    <p:sldId id="2147483613" r:id="rId20"/>
    <p:sldId id="2147483614" r:id="rId21"/>
    <p:sldId id="2147483615" r:id="rId22"/>
    <p:sldId id="2147483616" r:id="rId23"/>
    <p:sldId id="214748361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97341-1F18-8149-9CA2-90CE384EE324}" v="1" dt="2025-06-19T13:53:45.365"/>
    <p1510:client id="{54CFADFF-3DFD-7777-BEFF-9AADA420C47C}" v="53" dt="2025-06-19T09:34:36.236"/>
    <p1510:client id="{679A3952-1ADF-944B-89AF-5CFCC8729F93}" v="1190" dt="2025-06-19T10:57:19.666"/>
    <p1510:client id="{81764DC5-852C-CD72-D0A3-D4A2F3CB41A0}" v="129" dt="2025-06-19T03:34:18.183"/>
    <p1510:client id="{881371E5-011B-4A69-71BB-000A16890E1B}" v="11" dt="2025-06-19T06:07:48.114"/>
    <p1510:client id="{CA71A6AA-1491-3259-B6A7-1C7535CDFF13}" v="4" dt="2025-06-19T04:41:22.039"/>
    <p1510:client id="{CB0DABEF-8D08-9759-F907-8EA0B8523FB5}" v="75" dt="2025-06-19T04:15:24.976"/>
    <p1510:client id="{CC0FC914-EAC8-A7B2-5D08-23307AA1DF10}" v="377" dt="2025-06-19T05:24:22.603"/>
    <p1510:client id="{EB25E837-A67C-92E1-7688-1BE6FC7574B9}" v="4" dt="2025-06-19T09:20:47.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718"/>
  </p:normalViewPr>
  <p:slideViewPr>
    <p:cSldViewPr snapToGrid="0">
      <p:cViewPr varScale="1">
        <p:scale>
          <a:sx n="64" d="100"/>
          <a:sy n="64" d="100"/>
        </p:scale>
        <p:origin x="80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0FC89-9C92-462F-AAB2-FAF7726032E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EC7744-D407-4555-828F-3CB892BB6BE0}">
      <dgm:prSet/>
      <dgm:spPr/>
      <dgm:t>
        <a:bodyPr/>
        <a:lstStyle/>
        <a:p>
          <a:r>
            <a:rPr lang="en-US"/>
            <a:t>A “women’s thing” </a:t>
          </a:r>
        </a:p>
      </dgm:t>
    </dgm:pt>
    <dgm:pt modelId="{399B0BEC-2B6F-4FA0-8418-1CDD6A718FD5}" type="parTrans" cxnId="{3B86C772-5BF0-4279-B391-71FBB1CCF05F}">
      <dgm:prSet/>
      <dgm:spPr/>
      <dgm:t>
        <a:bodyPr/>
        <a:lstStyle/>
        <a:p>
          <a:endParaRPr lang="en-US"/>
        </a:p>
      </dgm:t>
    </dgm:pt>
    <dgm:pt modelId="{2D38446A-344D-441D-AF56-C56FAF7B6CC4}" type="sibTrans" cxnId="{3B86C772-5BF0-4279-B391-71FBB1CCF05F}">
      <dgm:prSet/>
      <dgm:spPr/>
      <dgm:t>
        <a:bodyPr/>
        <a:lstStyle/>
        <a:p>
          <a:endParaRPr lang="en-US"/>
        </a:p>
      </dgm:t>
    </dgm:pt>
    <dgm:pt modelId="{567F1949-5972-4473-B4CC-7F413B789085}">
      <dgm:prSet/>
      <dgm:spPr/>
      <dgm:t>
        <a:bodyPr/>
        <a:lstStyle/>
        <a:p>
          <a:r>
            <a:rPr lang="en-US"/>
            <a:t>A passing fad</a:t>
          </a:r>
        </a:p>
      </dgm:t>
    </dgm:pt>
    <dgm:pt modelId="{6B633CF4-2BFC-4FB8-BD74-2DF1D87CD37E}" type="parTrans" cxnId="{2F6A086F-1719-48D6-BEAF-9539044CAB24}">
      <dgm:prSet/>
      <dgm:spPr/>
      <dgm:t>
        <a:bodyPr/>
        <a:lstStyle/>
        <a:p>
          <a:endParaRPr lang="en-US"/>
        </a:p>
      </dgm:t>
    </dgm:pt>
    <dgm:pt modelId="{4719131E-3059-4161-97EB-0BFF82D2B00F}" type="sibTrans" cxnId="{2F6A086F-1719-48D6-BEAF-9539044CAB24}">
      <dgm:prSet/>
      <dgm:spPr/>
      <dgm:t>
        <a:bodyPr/>
        <a:lstStyle/>
        <a:p>
          <a:endParaRPr lang="en-US"/>
        </a:p>
      </dgm:t>
    </dgm:pt>
    <dgm:pt modelId="{F77E5275-6502-4342-9A6D-3831F26EB6AD}">
      <dgm:prSet/>
      <dgm:spPr/>
      <dgm:t>
        <a:bodyPr/>
        <a:lstStyle/>
        <a:p>
          <a:r>
            <a:rPr lang="en-US"/>
            <a:t>Something to joke about</a:t>
          </a:r>
        </a:p>
      </dgm:t>
    </dgm:pt>
    <dgm:pt modelId="{EA9535E3-05AE-4739-9B87-CFC5A3DF9CA4}" type="parTrans" cxnId="{27C060A6-A637-401B-8734-0F6CC4D69677}">
      <dgm:prSet/>
      <dgm:spPr/>
      <dgm:t>
        <a:bodyPr/>
        <a:lstStyle/>
        <a:p>
          <a:endParaRPr lang="en-US"/>
        </a:p>
      </dgm:t>
    </dgm:pt>
    <dgm:pt modelId="{E894D0A6-5E9E-4D1B-94A4-1F1600F299C2}" type="sibTrans" cxnId="{27C060A6-A637-401B-8734-0F6CC4D69677}">
      <dgm:prSet/>
      <dgm:spPr/>
      <dgm:t>
        <a:bodyPr/>
        <a:lstStyle/>
        <a:p>
          <a:endParaRPr lang="en-US"/>
        </a:p>
      </dgm:t>
    </dgm:pt>
    <dgm:pt modelId="{0693225B-DD54-4362-9CE4-1ADFD44C35D1}">
      <dgm:prSet/>
      <dgm:spPr/>
      <dgm:t>
        <a:bodyPr/>
        <a:lstStyle/>
        <a:p>
          <a:r>
            <a:rPr lang="en-US"/>
            <a:t>Something to be ignored</a:t>
          </a:r>
        </a:p>
      </dgm:t>
    </dgm:pt>
    <dgm:pt modelId="{CD5E68CC-A25F-46E0-8D19-04034C61D880}" type="parTrans" cxnId="{D5309087-0C88-436B-8BC5-2038EB1AFA54}">
      <dgm:prSet/>
      <dgm:spPr/>
      <dgm:t>
        <a:bodyPr/>
        <a:lstStyle/>
        <a:p>
          <a:endParaRPr lang="en-US"/>
        </a:p>
      </dgm:t>
    </dgm:pt>
    <dgm:pt modelId="{D01896D3-D9CB-4F3F-B0BB-78C77C3F3529}" type="sibTrans" cxnId="{D5309087-0C88-436B-8BC5-2038EB1AFA54}">
      <dgm:prSet/>
      <dgm:spPr/>
      <dgm:t>
        <a:bodyPr/>
        <a:lstStyle/>
        <a:p>
          <a:endParaRPr lang="en-US"/>
        </a:p>
      </dgm:t>
    </dgm:pt>
    <dgm:pt modelId="{E8BE556C-2A5A-4D41-B514-D800AE53A2FD}">
      <dgm:prSet/>
      <dgm:spPr/>
      <dgm:t>
        <a:bodyPr/>
        <a:lstStyle/>
        <a:p>
          <a:r>
            <a:rPr lang="en-US"/>
            <a:t>A cause for paranoia and fear</a:t>
          </a:r>
        </a:p>
      </dgm:t>
    </dgm:pt>
    <dgm:pt modelId="{8A193477-281C-4518-AE65-815F972000C2}" type="parTrans" cxnId="{F9392542-C32C-444B-B6B2-5F48D10EB866}">
      <dgm:prSet/>
      <dgm:spPr/>
      <dgm:t>
        <a:bodyPr/>
        <a:lstStyle/>
        <a:p>
          <a:endParaRPr lang="en-US"/>
        </a:p>
      </dgm:t>
    </dgm:pt>
    <dgm:pt modelId="{BE222F69-D4F6-4EED-8140-A23D55845019}" type="sibTrans" cxnId="{F9392542-C32C-444B-B6B2-5F48D10EB866}">
      <dgm:prSet/>
      <dgm:spPr/>
      <dgm:t>
        <a:bodyPr/>
        <a:lstStyle/>
        <a:p>
          <a:endParaRPr lang="en-US"/>
        </a:p>
      </dgm:t>
    </dgm:pt>
    <dgm:pt modelId="{5CB4A8DF-00B3-449E-92B5-8FDAE7A0F342}">
      <dgm:prSet/>
      <dgm:spPr/>
      <dgm:t>
        <a:bodyPr/>
        <a:lstStyle/>
        <a:p>
          <a:r>
            <a:rPr lang="en-US"/>
            <a:t>It’s a legal requirement to prevent, prohibit and address this issue at “Workplace”</a:t>
          </a:r>
        </a:p>
      </dgm:t>
    </dgm:pt>
    <dgm:pt modelId="{F4EC6120-B738-4951-A7D6-A9C909FD44B1}" type="parTrans" cxnId="{4BE8685C-5DD3-49A1-9A92-FBB20BED499E}">
      <dgm:prSet/>
      <dgm:spPr/>
      <dgm:t>
        <a:bodyPr/>
        <a:lstStyle/>
        <a:p>
          <a:endParaRPr lang="en-US"/>
        </a:p>
      </dgm:t>
    </dgm:pt>
    <dgm:pt modelId="{5ED2651C-601B-4BCE-9F11-627DB2ECED5A}" type="sibTrans" cxnId="{4BE8685C-5DD3-49A1-9A92-FBB20BED499E}">
      <dgm:prSet/>
      <dgm:spPr/>
      <dgm:t>
        <a:bodyPr/>
        <a:lstStyle/>
        <a:p>
          <a:endParaRPr lang="en-US"/>
        </a:p>
      </dgm:t>
    </dgm:pt>
    <dgm:pt modelId="{D25F22AE-E2A0-40EB-8FBB-274C5F5055F1}" type="pres">
      <dgm:prSet presAssocID="{6770FC89-9C92-462F-AAB2-FAF7726032E0}" presName="linear" presStyleCnt="0">
        <dgm:presLayoutVars>
          <dgm:animLvl val="lvl"/>
          <dgm:resizeHandles val="exact"/>
        </dgm:presLayoutVars>
      </dgm:prSet>
      <dgm:spPr/>
    </dgm:pt>
    <dgm:pt modelId="{380A3DCA-8F83-413D-920B-8FB2541C6E9D}" type="pres">
      <dgm:prSet presAssocID="{FEEC7744-D407-4555-828F-3CB892BB6BE0}" presName="parentText" presStyleLbl="node1" presStyleIdx="0" presStyleCnt="6">
        <dgm:presLayoutVars>
          <dgm:chMax val="0"/>
          <dgm:bulletEnabled val="1"/>
        </dgm:presLayoutVars>
      </dgm:prSet>
      <dgm:spPr/>
    </dgm:pt>
    <dgm:pt modelId="{DF86AAEF-53AA-4D0C-B1F0-5B6FEBB7CA7B}" type="pres">
      <dgm:prSet presAssocID="{2D38446A-344D-441D-AF56-C56FAF7B6CC4}" presName="spacer" presStyleCnt="0"/>
      <dgm:spPr/>
    </dgm:pt>
    <dgm:pt modelId="{FB7681E1-8296-45B1-95C7-4316DF0A0183}" type="pres">
      <dgm:prSet presAssocID="{567F1949-5972-4473-B4CC-7F413B789085}" presName="parentText" presStyleLbl="node1" presStyleIdx="1" presStyleCnt="6">
        <dgm:presLayoutVars>
          <dgm:chMax val="0"/>
          <dgm:bulletEnabled val="1"/>
        </dgm:presLayoutVars>
      </dgm:prSet>
      <dgm:spPr/>
    </dgm:pt>
    <dgm:pt modelId="{08306614-B547-4A1D-8A83-A4E8B6EA776E}" type="pres">
      <dgm:prSet presAssocID="{4719131E-3059-4161-97EB-0BFF82D2B00F}" presName="spacer" presStyleCnt="0"/>
      <dgm:spPr/>
    </dgm:pt>
    <dgm:pt modelId="{DD80B58D-7C19-455C-83E1-55FA357D9366}" type="pres">
      <dgm:prSet presAssocID="{F77E5275-6502-4342-9A6D-3831F26EB6AD}" presName="parentText" presStyleLbl="node1" presStyleIdx="2" presStyleCnt="6">
        <dgm:presLayoutVars>
          <dgm:chMax val="0"/>
          <dgm:bulletEnabled val="1"/>
        </dgm:presLayoutVars>
      </dgm:prSet>
      <dgm:spPr/>
    </dgm:pt>
    <dgm:pt modelId="{7ADB0394-D7CB-4C7B-9F7A-9A337ACE071D}" type="pres">
      <dgm:prSet presAssocID="{E894D0A6-5E9E-4D1B-94A4-1F1600F299C2}" presName="spacer" presStyleCnt="0"/>
      <dgm:spPr/>
    </dgm:pt>
    <dgm:pt modelId="{F3158281-0B35-42C5-832A-E39DBFD68B54}" type="pres">
      <dgm:prSet presAssocID="{0693225B-DD54-4362-9CE4-1ADFD44C35D1}" presName="parentText" presStyleLbl="node1" presStyleIdx="3" presStyleCnt="6">
        <dgm:presLayoutVars>
          <dgm:chMax val="0"/>
          <dgm:bulletEnabled val="1"/>
        </dgm:presLayoutVars>
      </dgm:prSet>
      <dgm:spPr/>
    </dgm:pt>
    <dgm:pt modelId="{018730DD-AAF7-42F3-B350-7357C85AE71B}" type="pres">
      <dgm:prSet presAssocID="{D01896D3-D9CB-4F3F-B0BB-78C77C3F3529}" presName="spacer" presStyleCnt="0"/>
      <dgm:spPr/>
    </dgm:pt>
    <dgm:pt modelId="{8DFA7F7A-A69F-4289-A885-6E4FB1ED390A}" type="pres">
      <dgm:prSet presAssocID="{E8BE556C-2A5A-4D41-B514-D800AE53A2FD}" presName="parentText" presStyleLbl="node1" presStyleIdx="4" presStyleCnt="6">
        <dgm:presLayoutVars>
          <dgm:chMax val="0"/>
          <dgm:bulletEnabled val="1"/>
        </dgm:presLayoutVars>
      </dgm:prSet>
      <dgm:spPr/>
    </dgm:pt>
    <dgm:pt modelId="{22D9458D-22DA-4AC2-8FDE-269023AB91E8}" type="pres">
      <dgm:prSet presAssocID="{BE222F69-D4F6-4EED-8140-A23D55845019}" presName="spacer" presStyleCnt="0"/>
      <dgm:spPr/>
    </dgm:pt>
    <dgm:pt modelId="{1BD12801-81BE-472B-8211-86079403E41A}" type="pres">
      <dgm:prSet presAssocID="{5CB4A8DF-00B3-449E-92B5-8FDAE7A0F342}" presName="parentText" presStyleLbl="node1" presStyleIdx="5" presStyleCnt="6">
        <dgm:presLayoutVars>
          <dgm:chMax val="0"/>
          <dgm:bulletEnabled val="1"/>
        </dgm:presLayoutVars>
      </dgm:prSet>
      <dgm:spPr/>
    </dgm:pt>
  </dgm:ptLst>
  <dgm:cxnLst>
    <dgm:cxn modelId="{4B42A413-DE77-434A-B5F0-268B799819EA}" type="presOf" srcId="{F77E5275-6502-4342-9A6D-3831F26EB6AD}" destId="{DD80B58D-7C19-455C-83E1-55FA357D9366}" srcOrd="0" destOrd="0" presId="urn:microsoft.com/office/officeart/2005/8/layout/vList2"/>
    <dgm:cxn modelId="{4BE8685C-5DD3-49A1-9A92-FBB20BED499E}" srcId="{6770FC89-9C92-462F-AAB2-FAF7726032E0}" destId="{5CB4A8DF-00B3-449E-92B5-8FDAE7A0F342}" srcOrd="5" destOrd="0" parTransId="{F4EC6120-B738-4951-A7D6-A9C909FD44B1}" sibTransId="{5ED2651C-601B-4BCE-9F11-627DB2ECED5A}"/>
    <dgm:cxn modelId="{F9392542-C32C-444B-B6B2-5F48D10EB866}" srcId="{6770FC89-9C92-462F-AAB2-FAF7726032E0}" destId="{E8BE556C-2A5A-4D41-B514-D800AE53A2FD}" srcOrd="4" destOrd="0" parTransId="{8A193477-281C-4518-AE65-815F972000C2}" sibTransId="{BE222F69-D4F6-4EED-8140-A23D55845019}"/>
    <dgm:cxn modelId="{EABB1565-A801-4ABE-86B2-4ADFCBED711E}" type="presOf" srcId="{E8BE556C-2A5A-4D41-B514-D800AE53A2FD}" destId="{8DFA7F7A-A69F-4289-A885-6E4FB1ED390A}" srcOrd="0" destOrd="0" presId="urn:microsoft.com/office/officeart/2005/8/layout/vList2"/>
    <dgm:cxn modelId="{2F6A086F-1719-48D6-BEAF-9539044CAB24}" srcId="{6770FC89-9C92-462F-AAB2-FAF7726032E0}" destId="{567F1949-5972-4473-B4CC-7F413B789085}" srcOrd="1" destOrd="0" parTransId="{6B633CF4-2BFC-4FB8-BD74-2DF1D87CD37E}" sibTransId="{4719131E-3059-4161-97EB-0BFF82D2B00F}"/>
    <dgm:cxn modelId="{3B86C772-5BF0-4279-B391-71FBB1CCF05F}" srcId="{6770FC89-9C92-462F-AAB2-FAF7726032E0}" destId="{FEEC7744-D407-4555-828F-3CB892BB6BE0}" srcOrd="0" destOrd="0" parTransId="{399B0BEC-2B6F-4FA0-8418-1CDD6A718FD5}" sibTransId="{2D38446A-344D-441D-AF56-C56FAF7B6CC4}"/>
    <dgm:cxn modelId="{CA6EE576-76AB-4B17-B07C-6A9EC5DCDD2E}" type="presOf" srcId="{FEEC7744-D407-4555-828F-3CB892BB6BE0}" destId="{380A3DCA-8F83-413D-920B-8FB2541C6E9D}" srcOrd="0" destOrd="0" presId="urn:microsoft.com/office/officeart/2005/8/layout/vList2"/>
    <dgm:cxn modelId="{D5309087-0C88-436B-8BC5-2038EB1AFA54}" srcId="{6770FC89-9C92-462F-AAB2-FAF7726032E0}" destId="{0693225B-DD54-4362-9CE4-1ADFD44C35D1}" srcOrd="3" destOrd="0" parTransId="{CD5E68CC-A25F-46E0-8D19-04034C61D880}" sibTransId="{D01896D3-D9CB-4F3F-B0BB-78C77C3F3529}"/>
    <dgm:cxn modelId="{27C060A6-A637-401B-8734-0F6CC4D69677}" srcId="{6770FC89-9C92-462F-AAB2-FAF7726032E0}" destId="{F77E5275-6502-4342-9A6D-3831F26EB6AD}" srcOrd="2" destOrd="0" parTransId="{EA9535E3-05AE-4739-9B87-CFC5A3DF9CA4}" sibTransId="{E894D0A6-5E9E-4D1B-94A4-1F1600F299C2}"/>
    <dgm:cxn modelId="{FA41EFAB-B594-4986-9DAD-02E0D7E37738}" type="presOf" srcId="{567F1949-5972-4473-B4CC-7F413B789085}" destId="{FB7681E1-8296-45B1-95C7-4316DF0A0183}" srcOrd="0" destOrd="0" presId="urn:microsoft.com/office/officeart/2005/8/layout/vList2"/>
    <dgm:cxn modelId="{5D4FC9CC-E569-43D4-8573-30A4979F4EA7}" type="presOf" srcId="{6770FC89-9C92-462F-AAB2-FAF7726032E0}" destId="{D25F22AE-E2A0-40EB-8FBB-274C5F5055F1}" srcOrd="0" destOrd="0" presId="urn:microsoft.com/office/officeart/2005/8/layout/vList2"/>
    <dgm:cxn modelId="{BB4EEBE9-E21A-4258-B67D-ADD4B18871FC}" type="presOf" srcId="{5CB4A8DF-00B3-449E-92B5-8FDAE7A0F342}" destId="{1BD12801-81BE-472B-8211-86079403E41A}" srcOrd="0" destOrd="0" presId="urn:microsoft.com/office/officeart/2005/8/layout/vList2"/>
    <dgm:cxn modelId="{A7E03CED-DD3C-4779-85D0-F260CFC86585}" type="presOf" srcId="{0693225B-DD54-4362-9CE4-1ADFD44C35D1}" destId="{F3158281-0B35-42C5-832A-E39DBFD68B54}" srcOrd="0" destOrd="0" presId="urn:microsoft.com/office/officeart/2005/8/layout/vList2"/>
    <dgm:cxn modelId="{0C2D1CBA-D081-4050-9AA8-2A4CCDCAEC39}" type="presParOf" srcId="{D25F22AE-E2A0-40EB-8FBB-274C5F5055F1}" destId="{380A3DCA-8F83-413D-920B-8FB2541C6E9D}" srcOrd="0" destOrd="0" presId="urn:microsoft.com/office/officeart/2005/8/layout/vList2"/>
    <dgm:cxn modelId="{D9D85508-E033-47D2-901F-4C282A072C30}" type="presParOf" srcId="{D25F22AE-E2A0-40EB-8FBB-274C5F5055F1}" destId="{DF86AAEF-53AA-4D0C-B1F0-5B6FEBB7CA7B}" srcOrd="1" destOrd="0" presId="urn:microsoft.com/office/officeart/2005/8/layout/vList2"/>
    <dgm:cxn modelId="{81AE0905-DE27-4B14-987D-B2146574DCC0}" type="presParOf" srcId="{D25F22AE-E2A0-40EB-8FBB-274C5F5055F1}" destId="{FB7681E1-8296-45B1-95C7-4316DF0A0183}" srcOrd="2" destOrd="0" presId="urn:microsoft.com/office/officeart/2005/8/layout/vList2"/>
    <dgm:cxn modelId="{6B22DD26-397D-40B1-8D89-734A81BD0C60}" type="presParOf" srcId="{D25F22AE-E2A0-40EB-8FBB-274C5F5055F1}" destId="{08306614-B547-4A1D-8A83-A4E8B6EA776E}" srcOrd="3" destOrd="0" presId="urn:microsoft.com/office/officeart/2005/8/layout/vList2"/>
    <dgm:cxn modelId="{7EBB6DDB-F1B8-45ED-95C8-E8AED8CFA23C}" type="presParOf" srcId="{D25F22AE-E2A0-40EB-8FBB-274C5F5055F1}" destId="{DD80B58D-7C19-455C-83E1-55FA357D9366}" srcOrd="4" destOrd="0" presId="urn:microsoft.com/office/officeart/2005/8/layout/vList2"/>
    <dgm:cxn modelId="{AA3F4146-8235-46EB-BC0C-073A62EF1AAD}" type="presParOf" srcId="{D25F22AE-E2A0-40EB-8FBB-274C5F5055F1}" destId="{7ADB0394-D7CB-4C7B-9F7A-9A337ACE071D}" srcOrd="5" destOrd="0" presId="urn:microsoft.com/office/officeart/2005/8/layout/vList2"/>
    <dgm:cxn modelId="{3DA526B5-C832-4254-9951-E362B6CA92B4}" type="presParOf" srcId="{D25F22AE-E2A0-40EB-8FBB-274C5F5055F1}" destId="{F3158281-0B35-42C5-832A-E39DBFD68B54}" srcOrd="6" destOrd="0" presId="urn:microsoft.com/office/officeart/2005/8/layout/vList2"/>
    <dgm:cxn modelId="{86CC40DA-70DA-4B12-9178-AA4BC2FFE6EF}" type="presParOf" srcId="{D25F22AE-E2A0-40EB-8FBB-274C5F5055F1}" destId="{018730DD-AAF7-42F3-B350-7357C85AE71B}" srcOrd="7" destOrd="0" presId="urn:microsoft.com/office/officeart/2005/8/layout/vList2"/>
    <dgm:cxn modelId="{4B949678-EC40-40BF-99AD-696F541B51B7}" type="presParOf" srcId="{D25F22AE-E2A0-40EB-8FBB-274C5F5055F1}" destId="{8DFA7F7A-A69F-4289-A885-6E4FB1ED390A}" srcOrd="8" destOrd="0" presId="urn:microsoft.com/office/officeart/2005/8/layout/vList2"/>
    <dgm:cxn modelId="{754F8E13-C877-4CE3-8103-42B253A571AB}" type="presParOf" srcId="{D25F22AE-E2A0-40EB-8FBB-274C5F5055F1}" destId="{22D9458D-22DA-4AC2-8FDE-269023AB91E8}" srcOrd="9" destOrd="0" presId="urn:microsoft.com/office/officeart/2005/8/layout/vList2"/>
    <dgm:cxn modelId="{898F8A10-F032-4492-AC54-D12EC4214EEF}" type="presParOf" srcId="{D25F22AE-E2A0-40EB-8FBB-274C5F5055F1}" destId="{1BD12801-81BE-472B-8211-86079403E41A}" srcOrd="1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A3DCA-8F83-413D-920B-8FB2541C6E9D}">
      <dsp:nvSpPr>
        <dsp:cNvPr id="0" name=""/>
        <dsp:cNvSpPr/>
      </dsp:nvSpPr>
      <dsp:spPr>
        <a:xfrm>
          <a:off x="0" y="464492"/>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 “women’s thing” </a:t>
          </a:r>
        </a:p>
      </dsp:txBody>
      <dsp:txXfrm>
        <a:off x="31185" y="495677"/>
        <a:ext cx="11791461" cy="576450"/>
      </dsp:txXfrm>
    </dsp:sp>
    <dsp:sp modelId="{FB7681E1-8296-45B1-95C7-4316DF0A0183}">
      <dsp:nvSpPr>
        <dsp:cNvPr id="0" name=""/>
        <dsp:cNvSpPr/>
      </dsp:nvSpPr>
      <dsp:spPr>
        <a:xfrm>
          <a:off x="0" y="1178192"/>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 passing fad</a:t>
          </a:r>
        </a:p>
      </dsp:txBody>
      <dsp:txXfrm>
        <a:off x="31185" y="1209377"/>
        <a:ext cx="11791461" cy="576450"/>
      </dsp:txXfrm>
    </dsp:sp>
    <dsp:sp modelId="{DD80B58D-7C19-455C-83E1-55FA357D9366}">
      <dsp:nvSpPr>
        <dsp:cNvPr id="0" name=""/>
        <dsp:cNvSpPr/>
      </dsp:nvSpPr>
      <dsp:spPr>
        <a:xfrm>
          <a:off x="0" y="1891892"/>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Something to joke about</a:t>
          </a:r>
        </a:p>
      </dsp:txBody>
      <dsp:txXfrm>
        <a:off x="31185" y="1923077"/>
        <a:ext cx="11791461" cy="576450"/>
      </dsp:txXfrm>
    </dsp:sp>
    <dsp:sp modelId="{F3158281-0B35-42C5-832A-E39DBFD68B54}">
      <dsp:nvSpPr>
        <dsp:cNvPr id="0" name=""/>
        <dsp:cNvSpPr/>
      </dsp:nvSpPr>
      <dsp:spPr>
        <a:xfrm>
          <a:off x="0" y="2605592"/>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Something to be ignored</a:t>
          </a:r>
        </a:p>
      </dsp:txBody>
      <dsp:txXfrm>
        <a:off x="31185" y="2636777"/>
        <a:ext cx="11791461" cy="576450"/>
      </dsp:txXfrm>
    </dsp:sp>
    <dsp:sp modelId="{8DFA7F7A-A69F-4289-A885-6E4FB1ED390A}">
      <dsp:nvSpPr>
        <dsp:cNvPr id="0" name=""/>
        <dsp:cNvSpPr/>
      </dsp:nvSpPr>
      <dsp:spPr>
        <a:xfrm>
          <a:off x="0" y="3319293"/>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 cause for paranoia and fear</a:t>
          </a:r>
        </a:p>
      </dsp:txBody>
      <dsp:txXfrm>
        <a:off x="31185" y="3350478"/>
        <a:ext cx="11791461" cy="576450"/>
      </dsp:txXfrm>
    </dsp:sp>
    <dsp:sp modelId="{1BD12801-81BE-472B-8211-86079403E41A}">
      <dsp:nvSpPr>
        <dsp:cNvPr id="0" name=""/>
        <dsp:cNvSpPr/>
      </dsp:nvSpPr>
      <dsp:spPr>
        <a:xfrm>
          <a:off x="0" y="4032993"/>
          <a:ext cx="11853831"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It’s a legal requirement to prevent, prohibit and address this issue at “Workplace”</a:t>
          </a:r>
        </a:p>
      </dsp:txBody>
      <dsp:txXfrm>
        <a:off x="31185" y="4064178"/>
        <a:ext cx="11791461" cy="5764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0D3B63-46D3-2C4E-A880-99FEF782E74C}" type="datetimeFigureOut">
              <a:rPr lang="en-US" smtClean="0"/>
              <a:t>28-Jan-26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D4C9F6-7636-A344-8B38-2B177C1FC4EF}" type="slidenum">
              <a:rPr lang="en-US" smtClean="0"/>
              <a:t>‹#›</a:t>
            </a:fld>
            <a:endParaRPr lang="en-US"/>
          </a:p>
        </p:txBody>
      </p:sp>
    </p:spTree>
    <p:extLst>
      <p:ext uri="{BB962C8B-B14F-4D97-AF65-F5344CB8AC3E}">
        <p14:creationId xmlns:p14="http://schemas.microsoft.com/office/powerpoint/2010/main" val="3245245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435E-CAE1-4DBA-7F76-C1BF96F58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5A865-2E18-52DB-A6CA-1F5C59C4A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4334C-D81D-7A50-AE81-5B068E5E03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99C89A-3961-DCE1-D823-AA246768EE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68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5C33-B920-B4EB-747B-FB729FEB0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173BE-8376-2DAD-1426-5D6255280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2C35E-1F14-B49E-8DD4-E02B7C82BC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B996CE-C08F-4A56-FC9A-B9D3D5635A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0177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D8DE-6633-D5A5-FD78-F361AB21F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92106-E33C-2E6D-DABE-0DFD67CA2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2A5C0-4A9A-3E80-5909-4CF9F78743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BCCD5E-25C0-3FFC-F82F-44D1840F1C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1580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0998F-AC61-5E9B-79E7-9A28A83E6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0B207-7ACE-D1A2-227A-C067A2A90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CBF3F-A2A2-D636-1EB6-331BB60881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E64A65-3185-0BFE-FCFA-3C8D0947CB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4728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0B8C1-0006-6C7B-79A5-7E8F885DA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BF51F-E727-7B6E-85AD-C11C2C5CE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2BCF7-F9B6-F4EE-01EF-46D7656E3E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A01782-082D-BEF1-99C5-5509DB3AE7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2012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81D2-5331-7800-25CA-E9C214FAA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72196-B2C5-5E43-996F-BB51E670D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E6CBC-3453-BA46-242C-0E930219C3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16EC0B-733E-F729-D6CC-48FD977898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7774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F948-A8A6-7A1B-E206-3C3AD8DCA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644B6-6FC1-5F29-9D19-1B5CEA26D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4A5AC-6277-33D0-007D-22CE2AAD61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A32051-DB75-89FD-D87E-4851217572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14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3E27-62D9-E653-BFE7-A714B8407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AB92F-9F0B-02DD-000C-4D79491B4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14913-616E-CE56-1795-372323518F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2D9F2F-0764-9513-BEF6-C17A750F9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054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4EE39-B834-A718-0DD6-953248B4C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96040-3BCE-3703-FCBD-F174F7521D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D42CF-22D3-57C5-62B2-ED30FA2A8D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A2CD2C-D506-F463-9FB3-3CE51C2FBD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9646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1B4A-36FF-10B6-78FC-5B5B6DF9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16FE3-0EB6-3A81-CB87-736BF9090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EF3FB-1EAF-06AB-AD14-E10EFA68BD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BAA536-086F-AC87-EABC-93EFEAEC9E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0617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8BDC-BEDD-3FC2-D97F-D7127891B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C60B2-8956-672E-0258-33E61A906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C9E64-E76A-0651-0DC8-0B66C196E3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1A33B6-62E7-0A94-353D-697C3DBF91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9950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D704D-64B7-2FE8-D06F-579F29465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909DF-0F90-E121-A6C4-B1CA5621A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A76CA-79FC-1B24-93EB-F0A5F87086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F69463-9640-2408-3D84-E6C77A024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221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46C61-0BA6-25D6-7835-BDAC2A427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7FB71-91CB-4530-1AAD-083F59E6D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15090-47A7-3552-6862-9428A51A9C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DE4067-1679-5BCF-3A24-C51CABB75E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8755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ED71B-2F37-9B8A-B976-7B57F93B9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551C1-58A1-3AB3-42DE-2A6B68283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3CE00-39D8-D100-4ED6-D658CB635E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727092-8B43-006C-99DF-001C6DCE6A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7758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749EC-B074-ADA4-BF4E-1FFCB754D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A0EAC-ED29-F71C-E696-0DD3C0679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212D0-A2AA-0FD8-CBB8-06D5E81C3A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BC0749-3355-0D34-CD70-3C5252C622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48459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990AD-C577-9E08-AE80-3D6F49EBA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74F0E-AEB5-E8FD-99D2-1BE850F30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9F1B4-25B1-EB46-575F-9C36DA5041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31511D-F614-31DD-C248-9E2DCBC1BC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2451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B38C-4BA8-953B-4856-7A24EBA88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5A46C-9F27-5750-CD58-6A7B92DBD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E422F-69CD-EBDC-1E0E-972AEE36FE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FC524A-E0AF-591F-B4D1-585D57F251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0425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4E89D-899E-4525-B02B-06B706D9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E9D0D-44D8-0C5C-04D4-EC686B0DD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5D85A-37F0-E162-8D64-559BE5D659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AF2230-DBDD-782E-E910-EF0E2CFB68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5614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24B5-9F60-6FF9-2B03-17D9EB384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921FC-069A-8675-5017-F4623C51B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F484B-F83F-49CA-A07E-E0147FB92B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D36A6D-17CB-BFBA-4491-FFD0D23ABB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4210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4E52-F2A4-6AD0-8C8C-97C06142A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44BED-B950-9F61-B9BD-DC0FE700F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AD2B7-A0C9-1603-BFA9-47FAA94A7E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BE3BD5-8AC2-3A93-D68C-00E04B137C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8946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865BF-C862-A42B-9DE1-9DD09ED10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C382C-01C6-658A-2D5D-3BB789F2F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2597F-B3B3-4B31-9405-CA1F1CBB40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C03123-69FA-EC36-6BF9-649A1AF236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4426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D921-B4C5-E66B-130E-D26340A1C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490BF-5D3F-F70C-A72F-746EDA4FE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4E4F0-D001-0516-A864-54DFF821C5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B58838-D76C-1ADE-7989-034C926B45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6365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6490-B7EA-01A1-632C-48F1E2F1E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947CF-0D2C-185F-C577-8BD563EDD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2FDB8-997E-C7ED-F2B6-1943E9A83A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7FF8F2-887A-6961-B3E4-2E4AC5EE11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60C9A-80CA-4051-96FC-7934B61FF11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0706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86A06-421D-D0DB-9848-DD0859902C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18788FD-DD9A-95A2-E11F-E11E8A31E2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1C6FA3D-A28E-677F-E78D-24D54EB2866E}"/>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BCAF3E55-9E39-F2DB-1FEB-1AC0962C4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32F38-86DC-7183-BDDA-83546D9BA03D}"/>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233639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0C9A9-ACBD-B357-B7D7-D5B2DC276F4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599B4D-85E7-ED55-0E11-8EEFD32C77E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7C9805-D9A8-655B-8536-697EBD99D8CC}"/>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2AC14A3D-E58B-D8DE-20F9-683796BBB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C139E-B24D-6816-CCF1-DCD8564B84D8}"/>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1798373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4CD4D-7364-FAD5-7247-4B5F42C0429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B84D39-F1A5-0404-CD3F-35B1DD0A4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18A0F1-A0FB-EA57-8D46-9B1CD47B6D71}"/>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AD311F66-5341-95E7-42F8-F18398E34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78584-A4D1-9368-459C-249835EA4D57}"/>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106615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99C65-A52A-CED4-03A7-F778EF17D8A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58041D8-CF3D-41CD-6446-444E6F2504F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467EF35-1F2A-9363-9470-36F62546DC3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3D7ADFE-B704-E241-BF49-B3AE5B71E869}"/>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6" name="Footer Placeholder 5">
            <a:extLst>
              <a:ext uri="{FF2B5EF4-FFF2-40B4-BE49-F238E27FC236}">
                <a16:creationId xmlns:a16="http://schemas.microsoft.com/office/drawing/2014/main" id="{8BEC2952-04B4-F6CB-82B0-F4A810497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386ADE-59D2-F0E2-037A-38B4542052DF}"/>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2490970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D3CA-2D82-E7B3-0019-83A75E50A0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3536D72-E4F5-31BC-01A1-4DDDABDE4E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931688-4EC0-637A-7B21-4647D341458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7EB018F-E43C-FEB2-4B5D-1EC0FFEF27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742A929-DBA1-11FC-C2FD-35D8DED4061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38BACC4-9391-FD49-7098-F53DF42B0D68}"/>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8" name="Footer Placeholder 7">
            <a:extLst>
              <a:ext uri="{FF2B5EF4-FFF2-40B4-BE49-F238E27FC236}">
                <a16:creationId xmlns:a16="http://schemas.microsoft.com/office/drawing/2014/main" id="{FCE9AA3E-0141-60C5-9497-221324634E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8DBAA5-7940-D549-9358-6CD85CC811E5}"/>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1336887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F0C76-79C5-BAAC-9A73-979110F967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2BE6ABD-AC93-E01F-010E-F13D70CA469E}"/>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4" name="Footer Placeholder 3">
            <a:extLst>
              <a:ext uri="{FF2B5EF4-FFF2-40B4-BE49-F238E27FC236}">
                <a16:creationId xmlns:a16="http://schemas.microsoft.com/office/drawing/2014/main" id="{1B8C7103-C1DC-8482-F1AD-239C35E658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5155B1-C527-4602-5C15-4C1040F44466}"/>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65351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26ACA6-FB98-1098-5DFA-EF89385536B8}"/>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3" name="Footer Placeholder 2">
            <a:extLst>
              <a:ext uri="{FF2B5EF4-FFF2-40B4-BE49-F238E27FC236}">
                <a16:creationId xmlns:a16="http://schemas.microsoft.com/office/drawing/2014/main" id="{20ABBB1B-C7FA-8F82-37B8-5303DE899C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CDA55-50F4-EEB0-056D-067E8BCB2EDE}"/>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62451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29DD-EA96-B750-BEEF-76D7727D91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E0BE9EE-AC3C-2747-C246-9C32036872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91DA0CC-F2CB-A77B-11B0-75DA38ED6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B1B15D-F699-BB6B-E14F-3216E635182F}"/>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6" name="Footer Placeholder 5">
            <a:extLst>
              <a:ext uri="{FF2B5EF4-FFF2-40B4-BE49-F238E27FC236}">
                <a16:creationId xmlns:a16="http://schemas.microsoft.com/office/drawing/2014/main" id="{64D6B627-C5ED-34A1-9927-05C5E0255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5808D8-9C90-5927-436A-F66E74ECCB0D}"/>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1257271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0005-B300-F390-A732-644CB44CCE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64B9995-CD97-C4FD-3A34-54C3550F40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C6A9F4-F0F5-7EE1-127E-E05B059705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32CE992-70EC-5BDF-AADF-32C88CDE99D2}"/>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6" name="Footer Placeholder 5">
            <a:extLst>
              <a:ext uri="{FF2B5EF4-FFF2-40B4-BE49-F238E27FC236}">
                <a16:creationId xmlns:a16="http://schemas.microsoft.com/office/drawing/2014/main" id="{65F6D732-DCDE-2096-0D7D-E66DB59BEA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1D42F-11E5-C396-3EBC-5AD2EEABBA1D}"/>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241432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FA70-FB9E-F240-43FC-B80FA67F86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139DB3B-5EAC-0314-0407-5D0A37FEB9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4861-5CCE-B0D0-C44A-5C51545588C0}"/>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AEB8E3B7-AF8B-D052-FD11-C35A34A675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30EC4-ED22-DB5F-B7D3-3C355122C2BA}"/>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2208644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F5D55D-28E1-2FF3-7982-3FFA316ABED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08E739F-52DF-8D7A-779F-FFFF7F7B2BE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4F02F1-15F3-EEC0-3787-5C128FF5AB70}"/>
              </a:ext>
            </a:extLst>
          </p:cNvPr>
          <p:cNvSpPr>
            <a:spLocks noGrp="1"/>
          </p:cNvSpPr>
          <p:nvPr>
            <p:ph type="dt" sz="half" idx="10"/>
          </p:nvPr>
        </p:nvSpPr>
        <p:spPr/>
        <p:txBody>
          <a:body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E002682B-C202-BC45-50AD-D37E5DFD9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FB5CC-5782-BF4A-E090-72CC2F22E39A}"/>
              </a:ext>
            </a:extLst>
          </p:cNvPr>
          <p:cNvSpPr>
            <a:spLocks noGrp="1"/>
          </p:cNvSpPr>
          <p:nvPr>
            <p:ph type="sldNum" sz="quarter" idx="12"/>
          </p:nvPr>
        </p:nvSpPr>
        <p:spPr/>
        <p:txBody>
          <a:bodyPr/>
          <a:lstStyle/>
          <a:p>
            <a:fld id="{BCAC70E9-7E63-F747-A0E2-E755D90274F5}" type="slidenum">
              <a:rPr lang="en-US" smtClean="0"/>
              <a:t>‹#›</a:t>
            </a:fld>
            <a:endParaRPr lang="en-US"/>
          </a:p>
        </p:txBody>
      </p:sp>
    </p:spTree>
    <p:extLst>
      <p:ext uri="{BB962C8B-B14F-4D97-AF65-F5344CB8AC3E}">
        <p14:creationId xmlns:p14="http://schemas.microsoft.com/office/powerpoint/2010/main" val="4205024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parator_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5653" y="2586500"/>
            <a:ext cx="9063445" cy="1291594"/>
          </a:xfrm>
          <a:prstGeom prst="rect">
            <a:avLst/>
          </a:prstGeom>
        </p:spPr>
        <p:txBody>
          <a:bodyPr anchor="ctr"/>
          <a:lstStyle>
            <a:lvl1pPr>
              <a:defRPr sz="3200" b="0">
                <a:solidFill>
                  <a:schemeClr val="tx2">
                    <a:lumMod val="50000"/>
                  </a:schemeClr>
                </a:solidFill>
              </a:defRPr>
            </a:lvl1pPr>
          </a:lstStyle>
          <a:p>
            <a:r>
              <a:rPr lang="en-US"/>
              <a:t>Click to edit Master title style</a:t>
            </a:r>
          </a:p>
        </p:txBody>
      </p:sp>
      <p:sp>
        <p:nvSpPr>
          <p:cNvPr id="3" name="Slide Number Placeholder 5">
            <a:extLst>
              <a:ext uri="{FF2B5EF4-FFF2-40B4-BE49-F238E27FC236}">
                <a16:creationId xmlns:a16="http://schemas.microsoft.com/office/drawing/2014/main" id="{8208D6E0-30E9-520B-30E5-EEBDFA10B784}"/>
              </a:ext>
            </a:extLst>
          </p:cNvPr>
          <p:cNvSpPr>
            <a:spLocks noGrp="1"/>
          </p:cNvSpPr>
          <p:nvPr>
            <p:ph type="sldNum" sz="quarter" idx="4"/>
          </p:nvPr>
        </p:nvSpPr>
        <p:spPr>
          <a:xfrm>
            <a:off x="9144000" y="6528423"/>
            <a:ext cx="2743200" cy="196824"/>
          </a:xfrm>
          <a:prstGeom prst="rect">
            <a:avLst/>
          </a:prstGeom>
        </p:spPr>
        <p:txBody>
          <a:bodyPr vert="horz" wrap="square" lIns="0" tIns="0" rIns="0" bIns="0" rtlCol="0" anchor="ctr">
            <a:noAutofit/>
          </a:bodyPr>
          <a:lstStyle>
            <a:lvl1pPr algn="r">
              <a:defRPr sz="1000">
                <a:solidFill>
                  <a:schemeClr val="tx1">
                    <a:tint val="75000"/>
                  </a:schemeClr>
                </a:solidFill>
                <a:latin typeface="Poppins" panose="00000500000000000000" pitchFamily="2" charset="0"/>
                <a:cs typeface="Poppins" panose="00000500000000000000" pitchFamily="2" charset="0"/>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146388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452AFA-3075-A8B6-8801-8D5D9CDA78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6484EEF-6ECA-96CD-334D-F56D3CDBC4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6E0E9A-4004-9CAB-054A-1C98316995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BA549D-4FA0-CB4D-8B80-8847520826BE}" type="datetimeFigureOut">
              <a:rPr lang="en-US" smtClean="0"/>
              <a:t>28-Jan-26</a:t>
            </a:fld>
            <a:endParaRPr lang="en-US"/>
          </a:p>
        </p:txBody>
      </p:sp>
      <p:sp>
        <p:nvSpPr>
          <p:cNvPr id="5" name="Footer Placeholder 4">
            <a:extLst>
              <a:ext uri="{FF2B5EF4-FFF2-40B4-BE49-F238E27FC236}">
                <a16:creationId xmlns:a16="http://schemas.microsoft.com/office/drawing/2014/main" id="{A02C4AFF-5139-CD6D-A294-45C0F12F8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4E9EAE-1AA0-23E9-FE13-DE7380ECD2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AC70E9-7E63-F747-A0E2-E755D90274F5}" type="slidenum">
              <a:rPr lang="en-US" smtClean="0"/>
              <a:t>‹#›</a:t>
            </a:fld>
            <a:endParaRPr lang="en-US"/>
          </a:p>
        </p:txBody>
      </p:sp>
    </p:spTree>
    <p:extLst>
      <p:ext uri="{BB962C8B-B14F-4D97-AF65-F5344CB8AC3E}">
        <p14:creationId xmlns:p14="http://schemas.microsoft.com/office/powerpoint/2010/main" val="1120149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hyperlink" Target="mailto:posh@venturesoft.ai" TargetMode="External"/><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C5267-531F-FFA7-7D8D-4BC634FE544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944133-A017-BA8C-F869-58A315686A14}"/>
              </a:ext>
            </a:extLst>
          </p:cNvPr>
          <p:cNvSpPr/>
          <p:nvPr/>
        </p:nvSpPr>
        <p:spPr>
          <a:xfrm>
            <a:off x="0" y="0"/>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0B74427A-44CF-ACB4-3840-3CDF72D89E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273" y="486226"/>
            <a:ext cx="3730298" cy="569361"/>
          </a:xfrm>
          <a:prstGeom prst="rect">
            <a:avLst/>
          </a:prstGeom>
        </p:spPr>
      </p:pic>
      <p:pic>
        <p:nvPicPr>
          <p:cNvPr id="13" name="Graphic 12">
            <a:extLst>
              <a:ext uri="{FF2B5EF4-FFF2-40B4-BE49-F238E27FC236}">
                <a16:creationId xmlns:a16="http://schemas.microsoft.com/office/drawing/2014/main" id="{B460FF75-0BA6-B562-BB83-4F389F4F07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86024" y="2394339"/>
            <a:ext cx="5230554" cy="4450039"/>
          </a:xfrm>
          <a:prstGeom prst="rect">
            <a:avLst/>
          </a:prstGeom>
        </p:spPr>
      </p:pic>
      <p:cxnSp>
        <p:nvCxnSpPr>
          <p:cNvPr id="5" name="Straight Connector 4">
            <a:extLst>
              <a:ext uri="{FF2B5EF4-FFF2-40B4-BE49-F238E27FC236}">
                <a16:creationId xmlns:a16="http://schemas.microsoft.com/office/drawing/2014/main" id="{A0DB26C2-E608-A226-8929-28BB1364A30B}"/>
              </a:ext>
            </a:extLst>
          </p:cNvPr>
          <p:cNvCxnSpPr>
            <a:cxnSpLocks/>
          </p:cNvCxnSpPr>
          <p:nvPr/>
        </p:nvCxnSpPr>
        <p:spPr>
          <a:xfrm>
            <a:off x="533400" y="4619359"/>
            <a:ext cx="501898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50DF689-C7C9-B2A4-5018-7A173353F779}"/>
              </a:ext>
            </a:extLst>
          </p:cNvPr>
          <p:cNvSpPr txBox="1"/>
          <p:nvPr/>
        </p:nvSpPr>
        <p:spPr>
          <a:xfrm>
            <a:off x="533398" y="5024586"/>
            <a:ext cx="6225121" cy="443198"/>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Deliver Value, Accelerate Outcomes</a:t>
            </a:r>
            <a:endParaRPr kumimoji="0" lang="en-US" sz="3200" b="1" i="1"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27B66D7-9B91-0FDC-AA1C-3D8327B912C1}"/>
              </a:ext>
            </a:extLst>
          </p:cNvPr>
          <p:cNvSpPr txBox="1"/>
          <p:nvPr/>
        </p:nvSpPr>
        <p:spPr>
          <a:xfrm>
            <a:off x="609598" y="2450155"/>
            <a:ext cx="9174069" cy="6647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IN" sz="4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Prevention</a:t>
            </a:r>
            <a:r>
              <a:rPr lang="en-IN" sz="4800" b="1" dirty="0">
                <a:solidFill>
                  <a:prstClr val="black"/>
                </a:solidFill>
                <a:latin typeface="Calibri" panose="020F0502020204030204" pitchFamily="34" charset="0"/>
                <a:ea typeface="Calibri" panose="020F0502020204030204" pitchFamily="34" charset="0"/>
                <a:cs typeface="Calibri" panose="020F0502020204030204" pitchFamily="34" charset="0"/>
              </a:rPr>
              <a:t> of Sexual Harassment</a:t>
            </a:r>
            <a:endParaRPr kumimoji="0" lang="en-US" sz="4800" b="1" i="1" u="none" strike="noStrike" kern="1200" cap="none" spc="0" normalizeH="0" baseline="0" noProof="0" dirty="0">
              <a:ln>
                <a:noFill/>
              </a:ln>
              <a:solidFill>
                <a:srgbClr val="14143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5717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AB643-BD1C-9B47-850C-B1C2A813B49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0E2FBC9-006C-A33D-091A-E57F43A7AB7B}"/>
              </a:ext>
            </a:extLst>
          </p:cNvPr>
          <p:cNvSpPr/>
          <p:nvPr/>
        </p:nvSpPr>
        <p:spPr>
          <a:xfrm>
            <a:off x="0" y="-71270"/>
            <a:ext cx="12192000" cy="692927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EB57A7B-E838-DA00-6EEB-3DA8A1EFFC74}"/>
              </a:ext>
            </a:extLst>
          </p:cNvPr>
          <p:cNvSpPr txBox="1"/>
          <p:nvPr/>
        </p:nvSpPr>
        <p:spPr>
          <a:xfrm>
            <a:off x="533397" y="0"/>
            <a:ext cx="6107245" cy="558743"/>
          </a:xfrm>
          <a:prstGeom prst="rect">
            <a:avLst/>
          </a:prstGeom>
          <a:noFill/>
        </p:spPr>
        <p:txBody>
          <a:bodyPr wrap="square" lIns="0" tIns="0" rIns="0" bIns="0" rtlCol="0">
            <a:spAutoFit/>
          </a:bodyPr>
          <a:lstStyle/>
          <a:p>
            <a:pPr lvl="0">
              <a:lnSpc>
                <a:spcPct val="90000"/>
              </a:lnSpc>
              <a:defRPr/>
            </a:pPr>
            <a:r>
              <a:rPr lang="en-US" sz="4000" b="1" dirty="0">
                <a:latin typeface="Calibri" panose="020F0502020204030204" pitchFamily="34" charset="0"/>
                <a:ea typeface="Calibri" panose="020F0502020204030204" pitchFamily="34" charset="0"/>
                <a:cs typeface="Calibri" panose="020F0502020204030204" pitchFamily="34" charset="0"/>
              </a:rPr>
              <a:t>Learning agenda</a:t>
            </a:r>
            <a:endParaRPr kumimoji="0" lang="en-US" sz="4000" b="1" i="1" u="none" strike="noStrike" kern="1200" cap="none" spc="0" normalizeH="0" baseline="0" noProof="0" dirty="0">
              <a:ln>
                <a:noFill/>
              </a:ln>
              <a:solidFill>
                <a:srgbClr val="14143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7" name="Straight Connector 6">
            <a:extLst>
              <a:ext uri="{FF2B5EF4-FFF2-40B4-BE49-F238E27FC236}">
                <a16:creationId xmlns:a16="http://schemas.microsoft.com/office/drawing/2014/main" id="{CD9282AA-2BE4-910B-15DE-31B7F9AE1863}"/>
              </a:ext>
            </a:extLst>
          </p:cNvPr>
          <p:cNvCxnSpPr>
            <a:cxnSpLocks/>
          </p:cNvCxnSpPr>
          <p:nvPr/>
        </p:nvCxnSpPr>
        <p:spPr>
          <a:xfrm>
            <a:off x="533398" y="569387"/>
            <a:ext cx="10624662" cy="0"/>
          </a:xfrm>
          <a:prstGeom prst="line">
            <a:avLst/>
          </a:prstGeom>
          <a:ln w="22225">
            <a:solidFill>
              <a:srgbClr val="FF0000"/>
            </a:solidFill>
            <a:tailEnd type="oval" w="lg" len="lg"/>
          </a:ln>
        </p:spPr>
        <p:style>
          <a:lnRef idx="1">
            <a:schemeClr val="accent1"/>
          </a:lnRef>
          <a:fillRef idx="0">
            <a:schemeClr val="accent1"/>
          </a:fillRef>
          <a:effectRef idx="0">
            <a:schemeClr val="accent1"/>
          </a:effectRef>
          <a:fontRef idx="minor">
            <a:schemeClr val="tx1"/>
          </a:fontRef>
        </p:style>
      </p:cxnSp>
      <p:pic>
        <p:nvPicPr>
          <p:cNvPr id="3" name="Picture 2" descr="A red text on a black background&#10;&#10;AI-generated content may be incorrect.">
            <a:extLst>
              <a:ext uri="{FF2B5EF4-FFF2-40B4-BE49-F238E27FC236}">
                <a16:creationId xmlns:a16="http://schemas.microsoft.com/office/drawing/2014/main" id="{6C7F9D29-6C04-CBB2-5A94-6ABEFB5924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8874" y="129057"/>
            <a:ext cx="1795915" cy="277858"/>
          </a:xfrm>
          <a:prstGeom prst="rect">
            <a:avLst/>
          </a:prstGeom>
        </p:spPr>
      </p:pic>
      <p:sp>
        <p:nvSpPr>
          <p:cNvPr id="5" name="Rectangle 3">
            <a:extLst>
              <a:ext uri="{FF2B5EF4-FFF2-40B4-BE49-F238E27FC236}">
                <a16:creationId xmlns:a16="http://schemas.microsoft.com/office/drawing/2014/main" id="{E2AC91F6-5CC0-330F-FA8B-40B74325D791}"/>
              </a:ext>
            </a:extLst>
          </p:cNvPr>
          <p:cNvSpPr txBox="1">
            <a:spLocks noChangeArrowheads="1"/>
          </p:cNvSpPr>
          <p:nvPr/>
        </p:nvSpPr>
        <p:spPr>
          <a:xfrm>
            <a:off x="126134" y="1469769"/>
            <a:ext cx="11939732" cy="3267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200000"/>
              </a:lnSpc>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Definition of sexual harassment</a:t>
            </a:r>
          </a:p>
          <a:p>
            <a:pPr marL="742950" indent="-742950">
              <a:lnSpc>
                <a:spcPct val="200000"/>
              </a:lnSpc>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Learning the different types of sexual harassment</a:t>
            </a:r>
          </a:p>
          <a:p>
            <a:pPr marL="742950" indent="-742950">
              <a:lnSpc>
                <a:spcPct val="200000"/>
              </a:lnSpc>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Identifying sexual harassment</a:t>
            </a:r>
          </a:p>
          <a:p>
            <a:pPr marL="742950" indent="-742950">
              <a:lnSpc>
                <a:spcPct val="200000"/>
              </a:lnSpc>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Steps to filing a complaint</a:t>
            </a:r>
          </a:p>
          <a:p>
            <a:pPr>
              <a:buFontTx/>
              <a:buNone/>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4" descr="malecartoon">
            <a:extLst>
              <a:ext uri="{FF2B5EF4-FFF2-40B4-BE49-F238E27FC236}">
                <a16:creationId xmlns:a16="http://schemas.microsoft.com/office/drawing/2014/main" id="{79647F12-8838-FBE5-9CBC-EBF79E7F1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1686" y="1632242"/>
            <a:ext cx="4304180" cy="49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838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AD7D3-8FBA-E286-24DF-44291D281AB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0D03B75-6645-2D8E-1D1B-458B0478746D}"/>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3E24BCE4-FCF2-BF9D-23C0-2E00F816CB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63FB2D2D-15D4-2F28-1753-2E0761419C7A}"/>
              </a:ext>
            </a:extLst>
          </p:cNvPr>
          <p:cNvSpPr>
            <a:spLocks noGrp="1"/>
          </p:cNvSpPr>
          <p:nvPr>
            <p:ph type="title"/>
          </p:nvPr>
        </p:nvSpPr>
        <p:spPr>
          <a:xfrm>
            <a:off x="126134" y="88011"/>
            <a:ext cx="11456266" cy="474118"/>
          </a:xfrm>
        </p:spPr>
        <p:txBody>
          <a:bodyPr>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Sexual harassment is not……</a:t>
            </a:r>
          </a:p>
        </p:txBody>
      </p:sp>
      <p:graphicFrame>
        <p:nvGraphicFramePr>
          <p:cNvPr id="12" name="Rectangle 3">
            <a:extLst>
              <a:ext uri="{FF2B5EF4-FFF2-40B4-BE49-F238E27FC236}">
                <a16:creationId xmlns:a16="http://schemas.microsoft.com/office/drawing/2014/main" id="{ACB5B1F6-1233-B1CC-82C6-9CD3B1CBF5B2}"/>
              </a:ext>
            </a:extLst>
          </p:cNvPr>
          <p:cNvGraphicFramePr/>
          <p:nvPr>
            <p:extLst>
              <p:ext uri="{D42A27DB-BD31-4B8C-83A1-F6EECF244321}">
                <p14:modId xmlns:p14="http://schemas.microsoft.com/office/powerpoint/2010/main" val="3143933784"/>
              </p:ext>
            </p:extLst>
          </p:nvPr>
        </p:nvGraphicFramePr>
        <p:xfrm>
          <a:off x="126134" y="562130"/>
          <a:ext cx="11853831" cy="513630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13751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ACBD-3006-5332-957C-E4D39B1C844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ACF7147-B33F-7F10-001C-9484AFCB9E16}"/>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FED4B905-7A89-F96F-0A8E-17C9AFEC6C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9D086B9D-8DB7-DC35-5FF3-A7DBEBAE7F6D}"/>
              </a:ext>
            </a:extLst>
          </p:cNvPr>
          <p:cNvSpPr>
            <a:spLocks noGrp="1"/>
          </p:cNvSpPr>
          <p:nvPr>
            <p:ph type="title"/>
          </p:nvPr>
        </p:nvSpPr>
        <p:spPr>
          <a:xfrm>
            <a:off x="126134" y="88011"/>
            <a:ext cx="11456266" cy="474118"/>
          </a:xfrm>
        </p:spPr>
        <p:txBody>
          <a:bodyPr>
            <a:noAutofit/>
          </a:bodyPr>
          <a:lstStyle/>
          <a:p>
            <a:r>
              <a:rPr lang="en-US" b="1" dirty="0">
                <a:latin typeface="Calibri" panose="020F0502020204030204" pitchFamily="34" charset="0"/>
                <a:ea typeface="Calibri" panose="020F0502020204030204" pitchFamily="34" charset="0"/>
                <a:cs typeface="Calibri" panose="020F0502020204030204" pitchFamily="34" charset="0"/>
              </a:rPr>
              <a:t>Workplace</a:t>
            </a:r>
          </a:p>
        </p:txBody>
      </p:sp>
      <p:sp>
        <p:nvSpPr>
          <p:cNvPr id="5" name="Content Placeholder 2">
            <a:extLst>
              <a:ext uri="{FF2B5EF4-FFF2-40B4-BE49-F238E27FC236}">
                <a16:creationId xmlns:a16="http://schemas.microsoft.com/office/drawing/2014/main" id="{E8D75AD3-1E1D-C631-64C1-AA8387D68E53}"/>
              </a:ext>
            </a:extLst>
          </p:cNvPr>
          <p:cNvSpPr txBox="1">
            <a:spLocks/>
          </p:cNvSpPr>
          <p:nvPr/>
        </p:nvSpPr>
        <p:spPr>
          <a:xfrm>
            <a:off x="0" y="804888"/>
            <a:ext cx="11800823" cy="59844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Any place visited by the employee arising out of or during the course of employment including transportation provided by the employer</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Sports facilities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Pantry or Canteen</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Apartment or house</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Office parties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Off sites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Out bound trainings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Client meetings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Training sessions</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Travel for office purpose</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Any place where one visits in the course of due to employment</a:t>
            </a:r>
          </a:p>
          <a:p>
            <a:endParaRPr lang="en-US" alt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6262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6833B-4FA6-290B-0224-7512FBB5E54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7E8B4C-962F-06F8-BC04-DED0CB8268BE}"/>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C60D7742-283A-2E7B-F54F-3702E19F12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99BAEC4E-2DFA-1D06-5DE9-19D32697C8CD}"/>
              </a:ext>
            </a:extLst>
          </p:cNvPr>
          <p:cNvSpPr>
            <a:spLocks noGrp="1"/>
          </p:cNvSpPr>
          <p:nvPr>
            <p:ph type="title"/>
          </p:nvPr>
        </p:nvSpPr>
        <p:spPr>
          <a:xfrm>
            <a:off x="126134" y="88011"/>
            <a:ext cx="11456266" cy="474118"/>
          </a:xfrm>
        </p:spPr>
        <p:txBody>
          <a:bodyPr>
            <a:normAutofit fontScale="90000"/>
          </a:bodyPr>
          <a:lstStyle/>
          <a:p>
            <a:r>
              <a:rPr lang="en-US" b="1" dirty="0">
                <a:latin typeface="Calibri" panose="020F0502020204030204" pitchFamily="34" charset="0"/>
                <a:ea typeface="Calibri" panose="020F0502020204030204" pitchFamily="34" charset="0"/>
                <a:cs typeface="Calibri" panose="020F0502020204030204" pitchFamily="34" charset="0"/>
              </a:rPr>
              <a:t>DEFINITION</a:t>
            </a:r>
          </a:p>
        </p:txBody>
      </p:sp>
      <p:sp>
        <p:nvSpPr>
          <p:cNvPr id="6" name="Rectangle 3">
            <a:extLst>
              <a:ext uri="{FF2B5EF4-FFF2-40B4-BE49-F238E27FC236}">
                <a16:creationId xmlns:a16="http://schemas.microsoft.com/office/drawing/2014/main" id="{A2E2074B-0210-C906-B541-251EF4F65F70}"/>
              </a:ext>
            </a:extLst>
          </p:cNvPr>
          <p:cNvSpPr txBox="1">
            <a:spLocks noChangeArrowheads="1"/>
          </p:cNvSpPr>
          <p:nvPr/>
        </p:nvSpPr>
        <p:spPr>
          <a:xfrm>
            <a:off x="0" y="562130"/>
            <a:ext cx="12192000" cy="5908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dirty="0">
                <a:latin typeface="Calibri" panose="020F0502020204030204" pitchFamily="34" charset="0"/>
                <a:ea typeface="Calibri" panose="020F0502020204030204" pitchFamily="34" charset="0"/>
                <a:cs typeface="Calibri" panose="020F0502020204030204" pitchFamily="34" charset="0"/>
              </a:rPr>
              <a:t>Unwelcome verbal, visual, or physical conduct of a sexual nature that is severe or pervasive and affects working conditions or creates a hostile work environment.</a:t>
            </a:r>
          </a:p>
        </p:txBody>
      </p:sp>
      <p:sp>
        <p:nvSpPr>
          <p:cNvPr id="7" name="TextBox 6">
            <a:extLst>
              <a:ext uri="{FF2B5EF4-FFF2-40B4-BE49-F238E27FC236}">
                <a16:creationId xmlns:a16="http://schemas.microsoft.com/office/drawing/2014/main" id="{280A1A73-F53B-B1E3-1F75-A75D5561A9C9}"/>
              </a:ext>
            </a:extLst>
          </p:cNvPr>
          <p:cNvSpPr txBox="1">
            <a:spLocks noChangeArrowheads="1"/>
          </p:cNvSpPr>
          <p:nvPr/>
        </p:nvSpPr>
        <p:spPr>
          <a:xfrm>
            <a:off x="126134" y="1192696"/>
            <a:ext cx="11800823" cy="53829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IN" sz="2000" b="1" dirty="0">
                <a:latin typeface="Calibri" panose="020F0502020204030204" pitchFamily="34" charset="0"/>
                <a:ea typeface="Calibri" panose="020F0502020204030204" pitchFamily="34" charset="0"/>
                <a:cs typeface="Calibri" panose="020F0502020204030204" pitchFamily="34" charset="0"/>
              </a:rPr>
              <a:t>Sexual harassment is any unwelcome sexually determined behaviour, such as:-</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Physical contact</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A demand or request for sexual favours</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Sexually coloured remarks</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Showing pornography</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Any other physical, verbal or non-verbal conduct of a sexual nature</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b="1" dirty="0">
                <a:latin typeface="Calibri" panose="020F0502020204030204" pitchFamily="34" charset="0"/>
                <a:ea typeface="Calibri" panose="020F0502020204030204" pitchFamily="34" charset="0"/>
                <a:cs typeface="Calibri" panose="020F0502020204030204" pitchFamily="34" charset="0"/>
              </a:rPr>
              <a:t>Sexual Harassment takes place if a person:</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subjects another person to an unwelcome act of physical intimacy, like grabbing, brushing, touching, pinching etc.</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makes an unwelcome demand or request (whether directly or by implication) for sexual favours from another person, and makes it a condition for employment/payment of wages/increment/promotion…</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makes an unwelcome remark with sexual connotations, like sexually explicit compliments/cracking loud jokes with sexual connotations/ making sexist remarks etc.</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shows a person any sexually explicit visual material, in the form of pictures/cartoons/pin-ups/ calendars/screen savers on computers/any offensive written material/pornographic e-mails, etc.</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engages in any unwelcome conduct of a sexual nature, which could be verbal, or even non-verbal, like staring to make the other person uncomfortable, making offensive gestures, kissing sounds, etc.</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It is sexual harassment if a supervisor requests sexual favours from a junior in return for promotion or other benefits or threatens to sack for non-cooperation or makes intrusive inquiries into the private lives of employees, or persistently ask them out. </a:t>
            </a:r>
          </a:p>
          <a:p>
            <a:pPr marL="342900" indent="-342900">
              <a:buFont typeface="+mj-lt"/>
              <a:buAutoNum type="arabicPeriod"/>
            </a:pPr>
            <a:r>
              <a:rPr lang="en-IN" sz="1600" dirty="0">
                <a:latin typeface="Calibri" panose="020F0502020204030204" pitchFamily="34" charset="0"/>
                <a:ea typeface="Calibri" panose="020F0502020204030204" pitchFamily="34" charset="0"/>
                <a:cs typeface="Calibri" panose="020F0502020204030204" pitchFamily="34" charset="0"/>
              </a:rPr>
              <a:t>It is sexual harassment for a group of workers to joke and snigger amongst themselves about sexual conduct in an attempt to humiliate or embarrass another person.</a:t>
            </a:r>
          </a:p>
        </p:txBody>
      </p:sp>
    </p:spTree>
    <p:extLst>
      <p:ext uri="{BB962C8B-B14F-4D97-AF65-F5344CB8AC3E}">
        <p14:creationId xmlns:p14="http://schemas.microsoft.com/office/powerpoint/2010/main" val="361700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42CF-026E-9DE7-A03E-C2ED7BE912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CF14C3-A0FB-D99D-AEA9-E1BA4447DA7A}"/>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4CFD5523-AE02-3443-A260-F83C0F324A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D2291274-0206-D154-235C-9C17F8AFC68E}"/>
              </a:ext>
            </a:extLst>
          </p:cNvPr>
          <p:cNvSpPr txBox="1">
            <a:spLocks/>
          </p:cNvSpPr>
          <p:nvPr/>
        </p:nvSpPr>
        <p:spPr>
          <a:xfrm>
            <a:off x="298411" y="49514"/>
            <a:ext cx="11456266" cy="47411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lang="en-US" altLang="en-US" b="1" dirty="0">
                <a:latin typeface="Calibri" panose="020F0502020204030204" pitchFamily="34" charset="0"/>
                <a:ea typeface="Calibri" panose="020F0502020204030204" pitchFamily="34" charset="0"/>
                <a:cs typeface="Calibri" panose="020F0502020204030204" pitchFamily="34" charset="0"/>
              </a:rPr>
              <a:t>Breaking down the definition : “Conduct</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3">
            <a:extLst>
              <a:ext uri="{FF2B5EF4-FFF2-40B4-BE49-F238E27FC236}">
                <a16:creationId xmlns:a16="http://schemas.microsoft.com/office/drawing/2014/main" id="{E9F2E069-0203-3B55-A34A-2CAD2C4C0BB0}"/>
              </a:ext>
            </a:extLst>
          </p:cNvPr>
          <p:cNvSpPr txBox="1">
            <a:spLocks noChangeArrowheads="1"/>
          </p:cNvSpPr>
          <p:nvPr/>
        </p:nvSpPr>
        <p:spPr>
          <a:xfrm>
            <a:off x="126133" y="562129"/>
            <a:ext cx="11681554" cy="21810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dirty="0">
                <a:latin typeface="Calibri" panose="020F0502020204030204" pitchFamily="34" charset="0"/>
                <a:ea typeface="Calibri" panose="020F0502020204030204" pitchFamily="34" charset="0"/>
                <a:cs typeface="Calibri" panose="020F0502020204030204" pitchFamily="34" charset="0"/>
              </a:rPr>
              <a:t>Conduct is NOT sexual harassment if it is welcome. For this reason, it is important to communicate (either verbally or in writing) to the harasser that the conduct makes you uncomfortable and you want it to stop. </a:t>
            </a:r>
          </a:p>
        </p:txBody>
      </p:sp>
      <p:pic>
        <p:nvPicPr>
          <p:cNvPr id="13" name="Picture 4" descr="talktothehand">
            <a:extLst>
              <a:ext uri="{FF2B5EF4-FFF2-40B4-BE49-F238E27FC236}">
                <a16:creationId xmlns:a16="http://schemas.microsoft.com/office/drawing/2014/main" id="{2F18DE68-065F-8C18-6ACD-1FF3CC4749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7874" y="1311300"/>
            <a:ext cx="3829118" cy="5277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602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A06DC-9312-FD44-6946-A20EAFCEE1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CFEE4A5-1E98-6947-A720-212968394C7E}"/>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0DD2F59C-14A9-9F1B-2800-EDF014B1D8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0C900CE6-8210-2B3C-4FAE-7D3CCDBFDCD4}"/>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“Of a Sexual Nature”</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FBE89572-E441-D136-EA46-6FFA2391C5D7}"/>
              </a:ext>
            </a:extLst>
          </p:cNvPr>
          <p:cNvSpPr txBox="1">
            <a:spLocks noChangeArrowheads="1"/>
          </p:cNvSpPr>
          <p:nvPr/>
        </p:nvSpPr>
        <p:spPr>
          <a:xfrm>
            <a:off x="126134" y="647700"/>
            <a:ext cx="8607287" cy="32454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2000" b="1" dirty="0">
                <a:latin typeface="Calibri" panose="020F0502020204030204" pitchFamily="34" charset="0"/>
                <a:ea typeface="Calibri" panose="020F0502020204030204" pitchFamily="34" charset="0"/>
                <a:cs typeface="Calibri" panose="020F0502020204030204" pitchFamily="34" charset="0"/>
              </a:rPr>
              <a:t>Verbal/Written:</a:t>
            </a:r>
            <a:r>
              <a:rPr lang="en-US" altLang="en-US" sz="2000" dirty="0">
                <a:latin typeface="Calibri" panose="020F0502020204030204" pitchFamily="34" charset="0"/>
                <a:ea typeface="Calibri" panose="020F0502020204030204" pitchFamily="34" charset="0"/>
                <a:cs typeface="Calibri" panose="020F0502020204030204" pitchFamily="34" charset="0"/>
              </a:rPr>
              <a:t> Comments about clothing, personal behavior, or a person’s body; sexual or sex-based jokes; requesting sexual favors or repeatedly asking a person out; sexual innuendoes; telling rumors about a person’s personal or sexual life; threatening a person, sending emails or text messages of a sexual nature</a:t>
            </a:r>
          </a:p>
          <a:p>
            <a:pPr>
              <a:lnSpc>
                <a:spcPct val="80000"/>
              </a:lnSpc>
            </a:pPr>
            <a:r>
              <a:rPr lang="en-US" altLang="en-US" sz="2000" b="1" dirty="0">
                <a:latin typeface="Calibri" panose="020F0502020204030204" pitchFamily="34" charset="0"/>
                <a:ea typeface="Calibri" panose="020F0502020204030204" pitchFamily="34" charset="0"/>
                <a:cs typeface="Calibri" panose="020F0502020204030204" pitchFamily="34" charset="0"/>
              </a:rPr>
              <a:t>Physical:</a:t>
            </a:r>
            <a:r>
              <a:rPr lang="en-US" altLang="en-US" sz="2000" dirty="0">
                <a:latin typeface="Calibri" panose="020F0502020204030204" pitchFamily="34" charset="0"/>
                <a:ea typeface="Calibri" panose="020F0502020204030204" pitchFamily="34" charset="0"/>
                <a:cs typeface="Calibri" panose="020F0502020204030204" pitchFamily="34" charset="0"/>
              </a:rPr>
              <a:t> Assault; impeding or blocking movement; inappropriate touching of a person or a person’s clothing; kissing, hugging, patting, stroking </a:t>
            </a:r>
          </a:p>
          <a:p>
            <a:pPr eaLnBrk="1" hangingPunct="1">
              <a:lnSpc>
                <a:spcPct val="80000"/>
              </a:lnSpc>
            </a:pPr>
            <a:r>
              <a:rPr lang="en-US" altLang="en-US" sz="2000" b="1" dirty="0">
                <a:latin typeface="Calibri" panose="020F0502020204030204" pitchFamily="34" charset="0"/>
                <a:ea typeface="Calibri" panose="020F0502020204030204" pitchFamily="34" charset="0"/>
                <a:cs typeface="Calibri" panose="020F0502020204030204" pitchFamily="34" charset="0"/>
              </a:rPr>
              <a:t>Nonverbal:</a:t>
            </a:r>
            <a:r>
              <a:rPr lang="en-US" altLang="en-US" sz="2000" dirty="0">
                <a:latin typeface="Calibri" panose="020F0502020204030204" pitchFamily="34" charset="0"/>
                <a:ea typeface="Calibri" panose="020F0502020204030204" pitchFamily="34" charset="0"/>
                <a:cs typeface="Calibri" panose="020F0502020204030204" pitchFamily="34" charset="0"/>
              </a:rPr>
              <a:t> Looking up and down a person’s body; derogatory gestures or facial expressions of a sexual nature; following a person</a:t>
            </a:r>
            <a:endParaRPr lang="en-US" altLang="en-US" sz="2000" b="1"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80000"/>
              </a:lnSpc>
            </a:pPr>
            <a:r>
              <a:rPr lang="en-US" altLang="en-US" sz="2000" b="1" dirty="0">
                <a:latin typeface="Calibri" panose="020F0502020204030204" pitchFamily="34" charset="0"/>
                <a:ea typeface="Calibri" panose="020F0502020204030204" pitchFamily="34" charset="0"/>
                <a:cs typeface="Calibri" panose="020F0502020204030204" pitchFamily="34" charset="0"/>
              </a:rPr>
              <a:t>Visual:</a:t>
            </a:r>
            <a:r>
              <a:rPr lang="en-US" altLang="en-US" sz="2000" dirty="0">
                <a:latin typeface="Calibri" panose="020F0502020204030204" pitchFamily="34" charset="0"/>
                <a:ea typeface="Calibri" panose="020F0502020204030204" pitchFamily="34" charset="0"/>
                <a:cs typeface="Calibri" panose="020F0502020204030204" pitchFamily="34" charset="0"/>
              </a:rPr>
              <a:t> Posters, drawings, pictures, screensavers, emails or text of a sexual nature </a:t>
            </a:r>
          </a:p>
        </p:txBody>
      </p:sp>
      <p:pic>
        <p:nvPicPr>
          <p:cNvPr id="7" name="Picture 5" descr="http://2.bp.blogspot.com/_clCBSXXMsxQ/RvQfvPozR5I/AAAAAAAABNQ/sPwDK1YfC4o/s200/emp3.jpg">
            <a:extLst>
              <a:ext uri="{FF2B5EF4-FFF2-40B4-BE49-F238E27FC236}">
                <a16:creationId xmlns:a16="http://schemas.microsoft.com/office/drawing/2014/main" id="{A23178F7-A4D1-6499-550A-6DD83908D7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8801" y="793473"/>
            <a:ext cx="2411896" cy="254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th?id=H">
            <a:extLst>
              <a:ext uri="{FF2B5EF4-FFF2-40B4-BE49-F238E27FC236}">
                <a16:creationId xmlns:a16="http://schemas.microsoft.com/office/drawing/2014/main" id="{06B556E9-FC78-2045-9309-F4C54A645C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48801" y="3893138"/>
            <a:ext cx="2411896" cy="2441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6940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78A4-E2D6-6C40-54AA-B0A35DD9097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157E958-9F0B-0AB3-83E0-302E722D3E85}"/>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839BADB7-7E27-E593-8F62-87168A269B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C4786B05-8BCA-606E-256F-1AF96DB6B0C4}"/>
              </a:ext>
            </a:extLst>
          </p:cNvPr>
          <p:cNvSpPr txBox="1">
            <a:spLocks/>
          </p:cNvSpPr>
          <p:nvPr/>
        </p:nvSpPr>
        <p:spPr>
          <a:xfrm>
            <a:off x="255653" y="92300"/>
            <a:ext cx="11456266" cy="47411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lang="en-US" altLang="en-US" b="1" dirty="0">
                <a:latin typeface="Calibri" panose="020F0502020204030204" pitchFamily="34" charset="0"/>
                <a:ea typeface="Calibri" panose="020F0502020204030204" pitchFamily="34" charset="0"/>
                <a:cs typeface="Calibri" panose="020F0502020204030204" pitchFamily="34" charset="0"/>
              </a:rPr>
              <a:t>Of a Non-Sexual Nature</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11" name="Rectangle 3">
            <a:extLst>
              <a:ext uri="{FF2B5EF4-FFF2-40B4-BE49-F238E27FC236}">
                <a16:creationId xmlns:a16="http://schemas.microsoft.com/office/drawing/2014/main" id="{CC7F0331-7572-A214-C86A-D238FF67DF25}"/>
              </a:ext>
            </a:extLst>
          </p:cNvPr>
          <p:cNvSpPr txBox="1">
            <a:spLocks noChangeArrowheads="1"/>
          </p:cNvSpPr>
          <p:nvPr/>
        </p:nvSpPr>
        <p:spPr>
          <a:xfrm>
            <a:off x="126134" y="611825"/>
            <a:ext cx="11880336" cy="12699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latin typeface="Calibri" panose="020F0502020204030204" pitchFamily="34" charset="0"/>
                <a:ea typeface="Calibri" panose="020F0502020204030204" pitchFamily="34" charset="0"/>
                <a:cs typeface="Calibri" panose="020F0502020204030204" pitchFamily="34" charset="0"/>
              </a:rPr>
              <a:t>** Non-sexual conduct may also be sexual harassment if you are harassed because you are female, rather than male, or because you are male, rather than female.</a:t>
            </a:r>
          </a:p>
          <a:p>
            <a:r>
              <a:rPr lang="en-US" altLang="en-US" sz="2000" dirty="0">
                <a:latin typeface="Calibri" panose="020F0502020204030204" pitchFamily="34" charset="0"/>
                <a:ea typeface="Calibri" panose="020F0502020204030204" pitchFamily="34" charset="0"/>
                <a:cs typeface="Calibri" panose="020F0502020204030204" pitchFamily="34" charset="0"/>
              </a:rPr>
              <a:t>For example, it may be sexual harassment if you are a woman working as a carpenter on an all-male job, and you are the only one whose tools are frequently hidden by your male co-workers. </a:t>
            </a:r>
          </a:p>
        </p:txBody>
      </p:sp>
    </p:spTree>
    <p:extLst>
      <p:ext uri="{BB962C8B-B14F-4D97-AF65-F5344CB8AC3E}">
        <p14:creationId xmlns:p14="http://schemas.microsoft.com/office/powerpoint/2010/main" val="375030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7F25-F3AC-EC0E-1C27-8B07BCA71D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3A0AE14-4DE3-9C3B-B5B2-40404C626297}"/>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11AA38E4-C57E-81A6-3A5E-36C4D8C2CC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BBE48214-703F-4572-39A4-3D24BAF90D4E}"/>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Sexual Orientation Harassment </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2B62EF70-4BE9-9230-5641-D1DDF15EF0E6}"/>
              </a:ext>
            </a:extLst>
          </p:cNvPr>
          <p:cNvSpPr txBox="1">
            <a:spLocks noChangeArrowheads="1"/>
          </p:cNvSpPr>
          <p:nvPr/>
        </p:nvSpPr>
        <p:spPr>
          <a:xfrm>
            <a:off x="126133" y="609600"/>
            <a:ext cx="11959849" cy="51915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defRPr/>
            </a:pPr>
            <a:r>
              <a:rPr lang="en-US" altLang="en-US" sz="2000" dirty="0">
                <a:latin typeface="Calibri" panose="020F0502020204030204" pitchFamily="34" charset="0"/>
                <a:ea typeface="Calibri" panose="020F0502020204030204" pitchFamily="34" charset="0"/>
                <a:cs typeface="Calibri" panose="020F0502020204030204" pitchFamily="34" charset="0"/>
              </a:rPr>
              <a:t>Examples of sexual orientation harassment that either interferes with an individual’s employment or creates a hostile work environment are as follows:</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Stating or implying in a joking or negative manner that an employee is a gay, lesbian, bi-sexual, transgender, gender non-confirming or heterosexual individual. </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jokes about gay, lesbian, bi-sexual, transgender, gender non-confirming  or heterosexual individuals.</a:t>
            </a:r>
          </a:p>
          <a:p>
            <a:pPr marL="457200" indent="-457200" eaLnBrk="1" hangingPunct="1">
              <a:lnSpc>
                <a:spcPct val="9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Inquiring into the sexual practices of gay, lesbian, bi-sexual, transgender, gender non-confirming or heterosexual individuals as a group.</a:t>
            </a:r>
          </a:p>
          <a:p>
            <a:pPr marL="457200" indent="-457200" eaLnBrk="1" hangingPunct="1">
              <a:lnSpc>
                <a:spcPct val="9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Using derogatory slang about a gay, lesbian, bi-sexual, transgender, gender non-confirming  or heterosexual individual.</a:t>
            </a:r>
          </a:p>
          <a:p>
            <a:pPr marL="457200" indent="-457200" eaLnBrk="1" hangingPunct="1">
              <a:lnSpc>
                <a:spcPct val="9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Repeatedly expressing negative opinions about gay, lesbian, bi-sexual, transgender, gender non-confirming  or heterosexual individuals.</a:t>
            </a:r>
          </a:p>
          <a:p>
            <a:pPr marL="0" indent="0" eaLnBrk="1" hangingPunct="1">
              <a:lnSpc>
                <a:spcPct val="90000"/>
              </a:lnSpc>
              <a:buFontTx/>
              <a:buNone/>
              <a:defRPr/>
            </a:pPr>
            <a:r>
              <a:rPr lang="en-US" altLang="en-US" sz="2000" dirty="0">
                <a:latin typeface="Calibri" panose="020F0502020204030204" pitchFamily="34" charset="0"/>
                <a:ea typeface="Calibri" panose="020F0502020204030204" pitchFamily="34" charset="0"/>
                <a:cs typeface="Calibri" panose="020F0502020204030204" pitchFamily="34" charset="0"/>
              </a:rPr>
              <a:t>Any harassing activity that is directed towards an employee due to the employee’s sexual orientation, or that is negative about differing sexual orientations, can constitute sexual orientation harassment.</a:t>
            </a:r>
          </a:p>
          <a:p>
            <a:pPr>
              <a:defRPr/>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942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04213-37BE-5301-F67B-9F87FD0C34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83E4DE7-3FDF-B180-433A-ABE4EBBC8651}"/>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59B5E736-557F-D8A2-029F-9335A24120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8" name="Title 1">
            <a:extLst>
              <a:ext uri="{FF2B5EF4-FFF2-40B4-BE49-F238E27FC236}">
                <a16:creationId xmlns:a16="http://schemas.microsoft.com/office/drawing/2014/main" id="{3F7F3014-AD2E-6B49-97BF-CFA37053124A}"/>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Discussion of Intent vs. Impact </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3">
            <a:extLst>
              <a:ext uri="{FF2B5EF4-FFF2-40B4-BE49-F238E27FC236}">
                <a16:creationId xmlns:a16="http://schemas.microsoft.com/office/drawing/2014/main" id="{BF74CCA6-A5FB-3D72-73EB-4AFBAAA52DAE}"/>
              </a:ext>
            </a:extLst>
          </p:cNvPr>
          <p:cNvSpPr txBox="1">
            <a:spLocks noChangeArrowheads="1"/>
          </p:cNvSpPr>
          <p:nvPr/>
        </p:nvSpPr>
        <p:spPr>
          <a:xfrm>
            <a:off x="152162" y="562129"/>
            <a:ext cx="11913704" cy="34002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defRPr/>
            </a:pPr>
            <a:r>
              <a:rPr lang="en-US" altLang="en-US" sz="2000" dirty="0">
                <a:latin typeface="Calibri" panose="020F0502020204030204" pitchFamily="34" charset="0"/>
                <a:ea typeface="Calibri" panose="020F0502020204030204" pitchFamily="34" charset="0"/>
                <a:cs typeface="Calibri" panose="020F0502020204030204" pitchFamily="34" charset="0"/>
              </a:rPr>
              <a:t>How do you know if your comments or actions are </a:t>
            </a:r>
            <a:r>
              <a:rPr lang="en-US" altLang="en-US" sz="2000" b="1" dirty="0">
                <a:latin typeface="Calibri" panose="020F0502020204030204" pitchFamily="34" charset="0"/>
                <a:ea typeface="Calibri" panose="020F0502020204030204" pitchFamily="34" charset="0"/>
                <a:cs typeface="Calibri" panose="020F0502020204030204" pitchFamily="34" charset="0"/>
              </a:rPr>
              <a:t>unwanted</a:t>
            </a:r>
            <a:r>
              <a:rPr lang="en-US" altLang="en-US" sz="2000" dirty="0">
                <a:latin typeface="Calibri" panose="020F0502020204030204" pitchFamily="34" charset="0"/>
                <a:ea typeface="Calibri" panose="020F0502020204030204" pitchFamily="34" charset="0"/>
                <a:cs typeface="Calibri" panose="020F0502020204030204" pitchFamily="34" charset="0"/>
              </a:rPr>
              <a:t> or </a:t>
            </a:r>
            <a:r>
              <a:rPr lang="en-US" altLang="en-US" sz="2000" b="1" dirty="0">
                <a:latin typeface="Calibri" panose="020F0502020204030204" pitchFamily="34" charset="0"/>
                <a:ea typeface="Calibri" panose="020F0502020204030204" pitchFamily="34" charset="0"/>
                <a:cs typeface="Calibri" panose="020F0502020204030204" pitchFamily="34" charset="0"/>
              </a:rPr>
              <a:t>unwelcome</a:t>
            </a:r>
            <a:r>
              <a:rPr lang="en-US" altLang="en-US" sz="2000" dirty="0">
                <a:latin typeface="Calibri" panose="020F0502020204030204" pitchFamily="34" charset="0"/>
                <a:ea typeface="Calibri" panose="020F0502020204030204" pitchFamily="34" charset="0"/>
                <a:cs typeface="Calibri" panose="020F0502020204030204" pitchFamily="34" charset="0"/>
              </a:rPr>
              <a:t>? Test yourself by asking these questions:</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Is there equal power between me and the person I’m interacting with?</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Is there equal initiation and participation between me and the person I’m interacting with? </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Would I behave the same way if the person I’m in a relationship with were standing next to me?</a:t>
            </a:r>
          </a:p>
          <a:p>
            <a:pPr marL="514350" indent="-514350" eaLnBrk="1" hangingPunct="1">
              <a:lnSpc>
                <a:spcPct val="9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Would I want someone else to act this way toward a person that I’m in a relationship with?</a:t>
            </a:r>
          </a:p>
          <a:p>
            <a:pPr marL="514350" indent="-514350" eaLnBrk="1" hangingPunct="1">
              <a:lnSpc>
                <a:spcPct val="9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Would I want any of those behaviors to be the subject of a column in my agency’s newsletters or to appear on the evening news? </a:t>
            </a:r>
          </a:p>
          <a:p>
            <a:pPr marL="514350" indent="-514350" eaLnBrk="1" hangingPunct="1">
              <a:lnSpc>
                <a:spcPct val="9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Have I examined and acknowledged my </a:t>
            </a:r>
            <a:r>
              <a:rPr lang="en-US" altLang="en-US" sz="2000" b="1" dirty="0">
                <a:latin typeface="Calibri" panose="020F0502020204030204" pitchFamily="34" charset="0"/>
                <a:ea typeface="Calibri" panose="020F0502020204030204" pitchFamily="34" charset="0"/>
                <a:cs typeface="Calibri" panose="020F0502020204030204" pitchFamily="34" charset="0"/>
              </a:rPr>
              <a:t>sex-role stereotypes</a:t>
            </a:r>
            <a:r>
              <a:rPr lang="en-US" altLang="en-US" sz="2000" dirty="0">
                <a:latin typeface="Calibri" panose="020F0502020204030204" pitchFamily="34" charset="0"/>
                <a:ea typeface="Calibri" panose="020F0502020204030204" pitchFamily="34" charset="0"/>
                <a:cs typeface="Calibri" panose="020F0502020204030204" pitchFamily="34" charset="0"/>
              </a:rPr>
              <a:t>? </a:t>
            </a:r>
          </a:p>
          <a:p>
            <a:pPr>
              <a:defRPr/>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123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E4C9-5F47-CCE5-190A-0C40947107A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40537A2-597E-B6C9-EAD4-571F811825FD}"/>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602F8D98-10E9-027A-0CAD-C3E9BB6CDF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AABBF0CB-9E7C-2485-7970-A2EB52B34ACA}"/>
              </a:ext>
            </a:extLst>
          </p:cNvPr>
          <p:cNvSpPr txBox="1">
            <a:spLocks/>
          </p:cNvSpPr>
          <p:nvPr/>
        </p:nvSpPr>
        <p:spPr>
          <a:xfrm>
            <a:off x="126134" y="88011"/>
            <a:ext cx="11456266" cy="47411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lang="en-US" altLang="en-US" b="1" dirty="0">
                <a:latin typeface="Calibri" panose="020F0502020204030204" pitchFamily="34" charset="0"/>
                <a:ea typeface="Calibri" panose="020F0502020204030204" pitchFamily="34" charset="0"/>
                <a:cs typeface="Calibri" panose="020F0502020204030204" pitchFamily="34" charset="0"/>
              </a:rPr>
              <a:t>“Severe or Pervasive”</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1783020-8F5D-51D8-E3E7-DA52A6A150AE}"/>
              </a:ext>
            </a:extLst>
          </p:cNvPr>
          <p:cNvSpPr txBox="1"/>
          <p:nvPr/>
        </p:nvSpPr>
        <p:spPr>
          <a:xfrm>
            <a:off x="182337" y="831952"/>
            <a:ext cx="11827326" cy="1631216"/>
          </a:xfrm>
          <a:prstGeom prst="rect">
            <a:avLst/>
          </a:prstGeom>
          <a:noFill/>
        </p:spPr>
        <p:txBody>
          <a:bodyPr wrap="square">
            <a:spAutoFit/>
          </a:bodyPr>
          <a:lstStyle/>
          <a:p>
            <a:pPr eaLnBrk="1" hangingPunct="1"/>
            <a:r>
              <a:rPr lang="en-US" altLang="en-US" sz="2000" dirty="0">
                <a:latin typeface="Calibri" panose="020F0502020204030204" pitchFamily="34" charset="0"/>
                <a:ea typeface="Calibri" panose="020F0502020204030204" pitchFamily="34" charset="0"/>
                <a:cs typeface="Calibri" panose="020F0502020204030204" pitchFamily="34" charset="0"/>
              </a:rPr>
              <a:t>The conduct of the harasser must be either severe or pervasive to be classified as sexual harassment. </a:t>
            </a:r>
          </a:p>
          <a:p>
            <a:pPr eaLnBrk="1" hangingPunct="1"/>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eaLnBrk="1" hangingPunct="1"/>
            <a:r>
              <a:rPr lang="en-US" altLang="en-US" sz="2000" dirty="0">
                <a:latin typeface="Calibri" panose="020F0502020204030204" pitchFamily="34" charset="0"/>
                <a:ea typeface="Calibri" panose="020F0502020204030204" pitchFamily="34" charset="0"/>
                <a:cs typeface="Calibri" panose="020F0502020204030204" pitchFamily="34" charset="0"/>
              </a:rPr>
              <a:t>Although a single unwanted request for a date or one sexually suggestive comment might offend you and/or be inappropriate, it may not be sexual harassment. However, a number of relatively minor separate incidents may add up to sexual harassment if the incidents affect your work environment.</a:t>
            </a:r>
          </a:p>
        </p:txBody>
      </p:sp>
    </p:spTree>
    <p:extLst>
      <p:ext uri="{BB962C8B-B14F-4D97-AF65-F5344CB8AC3E}">
        <p14:creationId xmlns:p14="http://schemas.microsoft.com/office/powerpoint/2010/main" val="388018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A874-8F97-C3C4-E7CE-C1512A3011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393205A-4AF8-59CE-CA40-1E5197CFCF4E}"/>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8CEEAE0F-5F4D-C825-C691-37DBE1E95C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696A5611-D1D5-EECF-AA2A-70578342592B}"/>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Questions to ask yourself:</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415FC517-E9DB-7C4B-62B4-63B483F2D7E9}"/>
              </a:ext>
            </a:extLst>
          </p:cNvPr>
          <p:cNvSpPr txBox="1">
            <a:spLocks noChangeArrowheads="1"/>
          </p:cNvSpPr>
          <p:nvPr/>
        </p:nvSpPr>
        <p:spPr>
          <a:xfrm>
            <a:off x="268356" y="647700"/>
            <a:ext cx="9312965" cy="20424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How many times did the incidents occur?</a:t>
            </a:r>
          </a:p>
          <a:p>
            <a:pPr marL="514350" indent="-514350">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How long has the harassment been going on?</a:t>
            </a:r>
          </a:p>
          <a:p>
            <a:pPr marL="514350" indent="-514350">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How many others have been sexually harassed?</a:t>
            </a:r>
          </a:p>
          <a:p>
            <a:pPr marL="514350" indent="-514350">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Who were witnesses to the harassment? </a:t>
            </a:r>
          </a:p>
          <a:p>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5" descr="th?id=H">
            <a:extLst>
              <a:ext uri="{FF2B5EF4-FFF2-40B4-BE49-F238E27FC236}">
                <a16:creationId xmlns:a16="http://schemas.microsoft.com/office/drawing/2014/main" id="{80ED6D77-12D9-07B3-13FC-ABDD6D09AF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612835" y="1010477"/>
            <a:ext cx="5310809" cy="3806863"/>
          </a:xfrm>
          <a:prstGeom prst="rect">
            <a:avLst/>
          </a:prstGeom>
          <a:noFill/>
        </p:spPr>
      </p:pic>
    </p:spTree>
    <p:extLst>
      <p:ext uri="{BB962C8B-B14F-4D97-AF65-F5344CB8AC3E}">
        <p14:creationId xmlns:p14="http://schemas.microsoft.com/office/powerpoint/2010/main" val="2828549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99ACC-C0E8-235B-F6F2-0787FE941C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F9AAC29-A3B5-6653-F776-810ACB28BA33}"/>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0B7A61C8-3628-5CEB-A850-164B9C21EE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9" name="Title 1">
            <a:extLst>
              <a:ext uri="{FF2B5EF4-FFF2-40B4-BE49-F238E27FC236}">
                <a16:creationId xmlns:a16="http://schemas.microsoft.com/office/drawing/2014/main" id="{90953CEA-F497-A545-AC23-9D53E69BCACD}"/>
              </a:ext>
            </a:extLst>
          </p:cNvPr>
          <p:cNvSpPr>
            <a:spLocks noGrp="1"/>
          </p:cNvSpPr>
          <p:nvPr>
            <p:ph type="title"/>
          </p:nvPr>
        </p:nvSpPr>
        <p:spPr>
          <a:xfrm>
            <a:off x="126134" y="88011"/>
            <a:ext cx="11456266" cy="474118"/>
          </a:xfrm>
        </p:spPr>
        <p:txBody>
          <a:bodyPr>
            <a:normAutofit/>
          </a:bodyPr>
          <a:lstStyle/>
          <a:p>
            <a:r>
              <a:rPr lang="en-US" altLang="en-US" sz="2400" b="1" dirty="0">
                <a:latin typeface="Calibri" panose="020F0502020204030204" pitchFamily="34" charset="0"/>
                <a:ea typeface="Calibri" panose="020F0502020204030204" pitchFamily="34" charset="0"/>
                <a:cs typeface="Calibri" panose="020F0502020204030204" pitchFamily="34" charset="0"/>
              </a:rPr>
              <a:t>“Affects working conditions or creates a hostile work environment”</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3">
            <a:extLst>
              <a:ext uri="{FF2B5EF4-FFF2-40B4-BE49-F238E27FC236}">
                <a16:creationId xmlns:a16="http://schemas.microsoft.com/office/drawing/2014/main" id="{F8AC1A1C-5195-3E3E-AC89-BBCBA8A2D626}"/>
              </a:ext>
            </a:extLst>
          </p:cNvPr>
          <p:cNvSpPr txBox="1">
            <a:spLocks noChangeArrowheads="1"/>
          </p:cNvSpPr>
          <p:nvPr/>
        </p:nvSpPr>
        <p:spPr>
          <a:xfrm>
            <a:off x="126134" y="712167"/>
            <a:ext cx="11939732" cy="20385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It may be sexual harassment if the conduct unreasonably interferes with your work performance or creates an “intimidating, hostile, or offensive work environment.” </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For example, it may be sexual harassment if repeated sexual comments make you so uncomfortable at work that your performance suffers or you decline professional opportunities because it will put you in contact with the harasser. </a:t>
            </a:r>
          </a:p>
        </p:txBody>
      </p:sp>
      <p:sp>
        <p:nvSpPr>
          <p:cNvPr id="11" name="Rectangle 3">
            <a:extLst>
              <a:ext uri="{FF2B5EF4-FFF2-40B4-BE49-F238E27FC236}">
                <a16:creationId xmlns:a16="http://schemas.microsoft.com/office/drawing/2014/main" id="{1A3B3205-054E-18E5-2394-6A0E948AB8C1}"/>
              </a:ext>
            </a:extLst>
          </p:cNvPr>
          <p:cNvSpPr txBox="1">
            <a:spLocks noChangeArrowheads="1"/>
          </p:cNvSpPr>
          <p:nvPr/>
        </p:nvSpPr>
        <p:spPr>
          <a:xfrm>
            <a:off x="205408" y="3600893"/>
            <a:ext cx="11781183" cy="22678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Verbal, physical or visual forms of harassment, that are sexual in nature, "sufficiently severe, persistent, or pervasive" and unwelcome fall under the category of Hostile Environment Sexual Harassment. </a:t>
            </a:r>
          </a:p>
          <a:p>
            <a:pPr marL="514350" indent="-514350">
              <a:buFont typeface="+mj-lt"/>
              <a:buAutoNum type="arabicPeriod"/>
            </a:pPr>
            <a:r>
              <a:rPr lang="en-US" altLang="en-US" sz="2400" dirty="0">
                <a:latin typeface="Calibri" panose="020F0502020204030204" pitchFamily="34" charset="0"/>
                <a:ea typeface="Calibri" panose="020F0502020204030204" pitchFamily="34" charset="0"/>
                <a:cs typeface="Calibri" panose="020F0502020204030204" pitchFamily="34" charset="0"/>
              </a:rPr>
              <a:t>A single, severe incident, such as a sexual assault, could create a hostile environment. More commonly, a "hostile environment" is created by a series of incidents. </a:t>
            </a:r>
          </a:p>
        </p:txBody>
      </p:sp>
      <p:sp>
        <p:nvSpPr>
          <p:cNvPr id="12" name="TextBox 11">
            <a:extLst>
              <a:ext uri="{FF2B5EF4-FFF2-40B4-BE49-F238E27FC236}">
                <a16:creationId xmlns:a16="http://schemas.microsoft.com/office/drawing/2014/main" id="{3F696AC4-A79F-E754-85A8-566BDF2826F3}"/>
              </a:ext>
            </a:extLst>
          </p:cNvPr>
          <p:cNvSpPr txBox="1"/>
          <p:nvPr/>
        </p:nvSpPr>
        <p:spPr>
          <a:xfrm>
            <a:off x="205408" y="2900706"/>
            <a:ext cx="4445866" cy="400110"/>
          </a:xfrm>
          <a:prstGeom prst="rect">
            <a:avLst/>
          </a:prstGeom>
          <a:noFill/>
        </p:spPr>
        <p:txBody>
          <a:bodyPr wrap="square">
            <a:spAutoFit/>
          </a:bodyPr>
          <a:lstStyle/>
          <a:p>
            <a:r>
              <a:rPr lang="en-US" altLang="en-US" sz="2000" b="1" dirty="0">
                <a:latin typeface="Calibri" panose="020F0502020204030204" pitchFamily="34" charset="0"/>
                <a:ea typeface="Calibri" panose="020F0502020204030204" pitchFamily="34" charset="0"/>
                <a:cs typeface="Calibri" panose="020F0502020204030204" pitchFamily="34" charset="0"/>
              </a:rPr>
              <a:t>Hostile Work Environment</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104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BFCD-0A71-BD26-E3B2-3A4A87185E3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4C4680-37A6-4D36-A9FB-1ADD8B13A936}"/>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584C9A67-43C3-2BE1-26A6-0BC4FDF1C9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8BD63592-F33F-1583-2BB6-1F2F93FE8099}"/>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Types &amp; examples of Sexual Harassment</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10">
            <a:extLst>
              <a:ext uri="{FF2B5EF4-FFF2-40B4-BE49-F238E27FC236}">
                <a16:creationId xmlns:a16="http://schemas.microsoft.com/office/drawing/2014/main" id="{3B33CBB3-3BCD-4464-13C6-28B6F54F1C5C}"/>
              </a:ext>
            </a:extLst>
          </p:cNvPr>
          <p:cNvSpPr txBox="1">
            <a:spLocks noChangeArrowheads="1"/>
          </p:cNvSpPr>
          <p:nvPr/>
        </p:nvSpPr>
        <p:spPr>
          <a:xfrm>
            <a:off x="178904" y="956403"/>
            <a:ext cx="11834191" cy="55183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b="1" u="sng" dirty="0">
                <a:latin typeface="Calibri" panose="020F0502020204030204" pitchFamily="34" charset="0"/>
                <a:ea typeface="Calibri" panose="020F0502020204030204" pitchFamily="34" charset="0"/>
                <a:cs typeface="Calibri" panose="020F0502020204030204" pitchFamily="34" charset="0"/>
              </a:rPr>
              <a:t>Quid Pro Quo (“This for that”)</a:t>
            </a:r>
          </a:p>
          <a:p>
            <a:pPr>
              <a:buFont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A person in a position of authority, typically a supervisor, demands sexual favors as a condition to getting or keeping a job benefit.</a:t>
            </a:r>
          </a:p>
          <a:p>
            <a:pPr>
              <a:buFontTx/>
              <a:buNone/>
            </a:pPr>
            <a:r>
              <a:rPr lang="en-US" altLang="en-US" sz="2000" b="1" dirty="0">
                <a:latin typeface="Calibri" panose="020F0502020204030204" pitchFamily="34" charset="0"/>
                <a:ea typeface="Calibri" panose="020F0502020204030204" pitchFamily="34" charset="0"/>
                <a:cs typeface="Calibri" panose="020F0502020204030204" pitchFamily="34" charset="0"/>
              </a:rPr>
              <a:t>Examples of Sexual Harassment:</a:t>
            </a:r>
          </a:p>
          <a:p>
            <a:pPr marL="457200" indent="-457200" eaLnBrk="1" hangingPunct="1">
              <a:lnSpc>
                <a:spcPct val="10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Unwanted jokes, gestures, offensive words on clothing, and unwelcome comments and witty responses. </a:t>
            </a:r>
          </a:p>
          <a:p>
            <a:pPr marL="457200" indent="-457200" eaLnBrk="1" hangingPunct="1">
              <a:lnSpc>
                <a:spcPct val="10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Touching and any other bodily contact such as scratching or patting a coworker's back, grabbing an employee around the waist, or interfering with an employee's ability to move. </a:t>
            </a:r>
          </a:p>
          <a:p>
            <a:pPr marL="457200" indent="-457200" eaLnBrk="1" hangingPunct="1">
              <a:lnSpc>
                <a:spcPct val="100000"/>
              </a:lnSpc>
              <a:buFont typeface="+mj-lt"/>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Repeated requests for dates that are turned down or unwanted flirting. </a:t>
            </a:r>
          </a:p>
          <a:p>
            <a:pPr marL="457200" indent="-457200" eaLnBrk="1" hangingPunct="1">
              <a:lnSpc>
                <a:spcPct val="10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Transmitting or posting emails, texts, or pictures of a sexual or other harassment-related nature. </a:t>
            </a:r>
          </a:p>
          <a:p>
            <a:pPr marL="457200" indent="-457200" eaLnBrk="1" hangingPunct="1">
              <a:lnSpc>
                <a:spcPct val="10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Displaying sexually suggestive objects, pictures, or posters.</a:t>
            </a:r>
          </a:p>
          <a:p>
            <a:pPr marL="457200" indent="-457200" eaLnBrk="1" hangingPunct="1">
              <a:lnSpc>
                <a:spcPct val="100000"/>
              </a:lnSpc>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Playing sexually suggestive music.</a:t>
            </a:r>
          </a:p>
          <a:p>
            <a:pPr marL="457200" indent="-45720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Giving a massage around the neck or shoulders</a:t>
            </a:r>
          </a:p>
          <a:p>
            <a:pPr marL="457200" indent="-45720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Touching the person’s clothing, hair, or body</a:t>
            </a:r>
          </a:p>
          <a:p>
            <a:pPr eaLnBrk="1" hangingPunct="1">
              <a:lnSpc>
                <a:spcPct val="100000"/>
              </a:lnSpc>
              <a:defRPr/>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a:buFontTx/>
              <a:buNone/>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6015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A307E-DC91-2113-9F99-996383B016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F04ABE-D6B3-6DFD-CA55-EA695ADE09BE}"/>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2" name="Graphic 1">
            <a:extLst>
              <a:ext uri="{FF2B5EF4-FFF2-40B4-BE49-F238E27FC236}">
                <a16:creationId xmlns:a16="http://schemas.microsoft.com/office/drawing/2014/main" id="{378570E5-FD4E-99E3-3FA0-2DC78EADFE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8" name="Title 1">
            <a:extLst>
              <a:ext uri="{FF2B5EF4-FFF2-40B4-BE49-F238E27FC236}">
                <a16:creationId xmlns:a16="http://schemas.microsoft.com/office/drawing/2014/main" id="{392DA51F-750E-161F-E603-A00202BC57C6}"/>
              </a:ext>
            </a:extLst>
          </p:cNvPr>
          <p:cNvSpPr>
            <a:spLocks noGrp="1"/>
          </p:cNvSpPr>
          <p:nvPr>
            <p:ph type="title"/>
          </p:nvPr>
        </p:nvSpPr>
        <p:spPr>
          <a:xfrm>
            <a:off x="126134" y="88011"/>
            <a:ext cx="11456266" cy="474118"/>
          </a:xfrm>
        </p:spPr>
        <p:txBody>
          <a:bodyPr>
            <a:normAutofit fontScale="90000"/>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Verbal-Examples of Sexual Harassment </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3">
            <a:extLst>
              <a:ext uri="{FF2B5EF4-FFF2-40B4-BE49-F238E27FC236}">
                <a16:creationId xmlns:a16="http://schemas.microsoft.com/office/drawing/2014/main" id="{DA158447-69D8-3BE8-9445-5C58EAFCEDF4}"/>
              </a:ext>
            </a:extLst>
          </p:cNvPr>
          <p:cNvSpPr txBox="1">
            <a:spLocks noChangeArrowheads="1"/>
          </p:cNvSpPr>
          <p:nvPr/>
        </p:nvSpPr>
        <p:spPr>
          <a:xfrm>
            <a:off x="126135" y="891912"/>
            <a:ext cx="11456265" cy="48050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Referring to an adult as a girl, a boy, hunk, doll, babe, or honey</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Whistling at someone, making cat calls </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sexual comments about a person’s body</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sexual comment or innuendos </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Turning work discussion to sexual topics </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Telling sexual jokes or stories</a:t>
            </a:r>
          </a:p>
          <a:p>
            <a:pPr marL="514350" indent="-51435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Asking about sexual fantasies, preferences, or history</a:t>
            </a:r>
          </a:p>
          <a:p>
            <a:pPr marL="514350" indent="-51435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Asking person questions about social or sexual life</a:t>
            </a:r>
          </a:p>
          <a:p>
            <a:pPr marL="514350" indent="-51435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sexual comments about a person’s clothing, anatomy, or looks</a:t>
            </a:r>
          </a:p>
          <a:p>
            <a:pPr marL="514350" indent="-51435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Repeatedly asking favor from a person who is not interested</a:t>
            </a:r>
          </a:p>
          <a:p>
            <a:pPr marL="514350" indent="-51435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kissing sounds, howling, and smacking lips</a:t>
            </a:r>
          </a:p>
          <a:p>
            <a:pPr marL="514350" indent="-514350" eaLnBrk="1" hangingPunct="1">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Telling lies or speaking rumors about a person’s sex life </a:t>
            </a:r>
          </a:p>
        </p:txBody>
      </p:sp>
    </p:spTree>
    <p:extLst>
      <p:ext uri="{BB962C8B-B14F-4D97-AF65-F5344CB8AC3E}">
        <p14:creationId xmlns:p14="http://schemas.microsoft.com/office/powerpoint/2010/main" val="140714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54523-3AF6-CE5A-AC31-4CBFBC3E54F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447CAC-2FB6-6CC2-D48E-05F42381FD15}"/>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46B3F3A0-8720-1F16-0A13-F5CED754B6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347D0A3D-91BD-51A0-69AF-E1BBE2DC4A21}"/>
              </a:ext>
            </a:extLst>
          </p:cNvPr>
          <p:cNvSpPr txBox="1">
            <a:spLocks/>
          </p:cNvSpPr>
          <p:nvPr/>
        </p:nvSpPr>
        <p:spPr>
          <a:xfrm>
            <a:off x="126134" y="88011"/>
            <a:ext cx="11456266" cy="47411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Non-Verbal-Examples of Sexual Harassment </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3">
            <a:extLst>
              <a:ext uri="{FF2B5EF4-FFF2-40B4-BE49-F238E27FC236}">
                <a16:creationId xmlns:a16="http://schemas.microsoft.com/office/drawing/2014/main" id="{DAF98A1C-2A6F-C0BB-BB44-3C96F7B398EA}"/>
              </a:ext>
            </a:extLst>
          </p:cNvPr>
          <p:cNvSpPr txBox="1">
            <a:spLocks noChangeArrowheads="1"/>
          </p:cNvSpPr>
          <p:nvPr/>
        </p:nvSpPr>
        <p:spPr>
          <a:xfrm>
            <a:off x="252268" y="669883"/>
            <a:ext cx="11939732" cy="4078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Looking a person up and down (elevator eyes)</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Staring at someone</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Blocking a person’s path</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Following the person</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Giving personal gifts</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Displaying sexually suggestive visual</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facial expressions such a winking throwing kisses, licking lips</a:t>
            </a:r>
          </a:p>
          <a:p>
            <a:pPr marL="457200" indent="-457200">
              <a:buFont typeface="+mj-lt"/>
              <a:buAutoNum type="arabicPeriod"/>
              <a:defRPr/>
            </a:pPr>
            <a:r>
              <a:rPr lang="en-US" altLang="en-US" sz="2000" dirty="0">
                <a:latin typeface="Calibri" panose="020F0502020204030204" pitchFamily="34" charset="0"/>
                <a:ea typeface="Calibri" panose="020F0502020204030204" pitchFamily="34" charset="0"/>
                <a:cs typeface="Calibri" panose="020F0502020204030204" pitchFamily="34" charset="0"/>
              </a:rPr>
              <a:t>Making sexual gestures with hands or through body movements </a:t>
            </a:r>
          </a:p>
          <a:p>
            <a:pPr marL="457200" indent="-457200">
              <a:buFont typeface="+mj-lt"/>
              <a:buAutoNum type="arabicPeriod"/>
              <a:defRPr/>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defRPr/>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5581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E7875-4E01-D323-9B2A-CC954806FB9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6170D9-6B48-7F62-B6A0-AC233125EFC0}"/>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D19C9831-6001-328A-4B02-7F24132CB9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A00AFC99-B36A-BAD7-8FF4-75E30ECAB8C5}"/>
              </a:ext>
            </a:extLst>
          </p:cNvPr>
          <p:cNvSpPr>
            <a:spLocks noGrp="1"/>
          </p:cNvSpPr>
          <p:nvPr>
            <p:ph type="title"/>
          </p:nvPr>
        </p:nvSpPr>
        <p:spPr>
          <a:xfrm>
            <a:off x="126134" y="88011"/>
            <a:ext cx="11456266" cy="474118"/>
          </a:xfrm>
        </p:spPr>
        <p:txBody>
          <a:bodyPr>
            <a:noAutofit/>
          </a:bodyPr>
          <a:lstStyle/>
          <a:p>
            <a:br>
              <a:rPr kumimoji="1"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br>
            <a:r>
              <a:rPr kumimoji="1"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Sexual Harassment Preventative Steps</a:t>
            </a:r>
            <a:br>
              <a:rPr kumimoji="1"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10">
            <a:extLst>
              <a:ext uri="{FF2B5EF4-FFF2-40B4-BE49-F238E27FC236}">
                <a16:creationId xmlns:a16="http://schemas.microsoft.com/office/drawing/2014/main" id="{C514A85D-44DF-A527-BCA0-19D11CA40FE8}"/>
              </a:ext>
            </a:extLst>
          </p:cNvPr>
          <p:cNvSpPr>
            <a:spLocks noChangeArrowheads="1"/>
          </p:cNvSpPr>
          <p:nvPr/>
        </p:nvSpPr>
        <p:spPr bwMode="auto">
          <a:xfrm>
            <a:off x="225287" y="717405"/>
            <a:ext cx="11840579" cy="5445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26988" rIns="19050" bIns="26988"/>
          <a:lstStyle/>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Express prohibition of sexual harassment at the work place should be notified, published and circulated.</a:t>
            </a:r>
          </a:p>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The Rules/Regulations  relating to conduct and discipline should include rules/regulations prohibiting sexual harassment and provide for appropriate penalties in such rules against the offender.</a:t>
            </a:r>
          </a:p>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Should be taken to include the aforesaid prohibitions in the standing orders under the Industrial Employment (Standing Orders) Act, 1946.</a:t>
            </a:r>
          </a:p>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Appropriate work conditions should be provided in respect of work, leisure, health and hygiene to further ensure that there is no hostile environment towards women at work places and no employee woman should have reasonable grounds to believe that she is disadvantaged in connection with her employment.</a:t>
            </a:r>
          </a:p>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Where such conduct amounts to a specific offence under the Indian Penal Code or under any other law, the employer shall initiate appropriate action in accordance with law by making a complaint with the appropriate authority.</a:t>
            </a:r>
          </a:p>
          <a:p>
            <a:pPr marL="342900" indent="-342900" algn="just">
              <a:spcBef>
                <a:spcPts val="1000"/>
              </a:spcBef>
              <a:spcAft>
                <a:spcPts val="200"/>
              </a:spcAft>
              <a:buClr>
                <a:schemeClr val="tx1"/>
              </a:buClr>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In particular, it should ensure that victims, or witnesses are not victimized or discriminated against while dealing with complaints of sexual harassment. The victims of sexual harassment should have the option to seek transfer of the perpetrator or their own transfer.</a:t>
            </a:r>
          </a:p>
          <a:p>
            <a:pPr marL="285750" indent="-285750" algn="just">
              <a:spcBef>
                <a:spcPts val="1000"/>
              </a:spcBef>
              <a:spcAft>
                <a:spcPts val="200"/>
              </a:spcAft>
              <a:buClr>
                <a:srgbClr val="000099"/>
              </a:buClr>
              <a:buFont typeface="Arial" pitchFamily="34" charset="0"/>
              <a:buChar char="•"/>
            </a:pPr>
            <a:endParaRPr kumimoji="1"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3919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11EDD-8BE7-6176-E01E-22FA58D082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84BD5D5-6108-0657-D99A-A72CF0469ED3}"/>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DBA22344-1933-8375-1CA8-A0230C590D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9" name="Title 1">
            <a:extLst>
              <a:ext uri="{FF2B5EF4-FFF2-40B4-BE49-F238E27FC236}">
                <a16:creationId xmlns:a16="http://schemas.microsoft.com/office/drawing/2014/main" id="{C0E892BB-8A61-EDB7-9950-76A6FAAE76EF}"/>
              </a:ext>
            </a:extLst>
          </p:cNvPr>
          <p:cNvSpPr txBox="1">
            <a:spLocks/>
          </p:cNvSpPr>
          <p:nvPr/>
        </p:nvSpPr>
        <p:spPr>
          <a:xfrm>
            <a:off x="126134" y="88011"/>
            <a:ext cx="11456266" cy="4741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br>
              <a:rPr kumimoji="1"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kumimoji="1"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Sexual Harassment Preventative Steps contd..</a:t>
            </a:r>
            <a:br>
              <a:rPr kumimoji="1"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10">
            <a:extLst>
              <a:ext uri="{FF2B5EF4-FFF2-40B4-BE49-F238E27FC236}">
                <a16:creationId xmlns:a16="http://schemas.microsoft.com/office/drawing/2014/main" id="{EC32A700-CEB2-4F98-2314-DFB8839C9E99}"/>
              </a:ext>
            </a:extLst>
          </p:cNvPr>
          <p:cNvSpPr>
            <a:spLocks noChangeArrowheads="1"/>
          </p:cNvSpPr>
          <p:nvPr/>
        </p:nvSpPr>
        <p:spPr bwMode="auto">
          <a:xfrm>
            <a:off x="126134" y="562129"/>
            <a:ext cx="11602040" cy="5918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26988" rIns="19050" bIns="26988"/>
          <a:lstStyle/>
          <a:p>
            <a:pPr marL="457200" indent="-457200">
              <a:spcBef>
                <a:spcPts val="1000"/>
              </a:spcBef>
              <a:spcAft>
                <a:spcPts val="200"/>
              </a:spcAft>
              <a:buClr>
                <a:schemeClr val="tx1"/>
              </a:buClr>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Disciplinary Action: </a:t>
            </a:r>
            <a:r>
              <a:rPr lang="en-IN" sz="2000" dirty="0">
                <a:latin typeface="Calibri" panose="020F0502020204030204" pitchFamily="34" charset="0"/>
                <a:ea typeface="Calibri" panose="020F0502020204030204" pitchFamily="34" charset="0"/>
                <a:cs typeface="Calibri" panose="020F0502020204030204" pitchFamily="34" charset="0"/>
              </a:rPr>
              <a:t>Where such conduct amounts to misconduct in employment as defined by the relevant service rules, appropriate disciplinary action should be initiated by the employer in accordance with those rules.</a:t>
            </a:r>
          </a:p>
          <a:p>
            <a:pPr marL="457200" indent="-457200">
              <a:spcBef>
                <a:spcPts val="1000"/>
              </a:spcBef>
              <a:spcAft>
                <a:spcPts val="200"/>
              </a:spcAft>
              <a:buClr>
                <a:schemeClr val="tx1"/>
              </a:buClr>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Complaint Mechanism: </a:t>
            </a:r>
            <a:r>
              <a:rPr lang="en-IN" sz="2000" dirty="0">
                <a:latin typeface="Calibri" panose="020F0502020204030204" pitchFamily="34" charset="0"/>
                <a:ea typeface="Calibri" panose="020F0502020204030204" pitchFamily="34" charset="0"/>
                <a:cs typeface="Calibri" panose="020F0502020204030204" pitchFamily="34" charset="0"/>
              </a:rPr>
              <a:t>Whether or not such conduct constitutes an offence under law or a breach of the service rules, an appropriate complaint mechanism should be created in the employer’s organisation for redress of the complaint made by the victim. Such complaint mechanism should ensure time bound treatment of complaints.</a:t>
            </a:r>
          </a:p>
          <a:p>
            <a:pPr marL="457200" indent="-457200">
              <a:spcBef>
                <a:spcPts val="1000"/>
              </a:spcBef>
              <a:spcAft>
                <a:spcPts val="200"/>
              </a:spcAft>
              <a:buClr>
                <a:schemeClr val="tx1"/>
              </a:buClr>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Complaints Committee:</a:t>
            </a:r>
            <a:r>
              <a:rPr lang="en-IN" sz="2000" dirty="0">
                <a:latin typeface="Calibri" panose="020F0502020204030204" pitchFamily="34" charset="0"/>
                <a:ea typeface="Calibri" panose="020F0502020204030204" pitchFamily="34" charset="0"/>
                <a:cs typeface="Calibri" panose="020F0502020204030204" pitchFamily="34" charset="0"/>
              </a:rPr>
              <a:t> The complaint mechanism, referred to in (6) above, should be adequate to provide, where necessary, a Complaints Committee, a special counsellor or other support service, including the maintenance of confidentiality.</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The Complaints Committee should be headed by a woman and not less than half of its member should be women. Further, to prevent the possibility of any undue pressure or influence from senior levels, such Complaints Committee should involve a third party, either NGO or other body who is familiar with the issue of sexual harassment.</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The Complaints Committee must make an annual report to the Government department concerned of the complaints and action taken by them.</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The employers and person in charge will also report on the compliance with the aforesaid guidelines including on the reports of the Complaints Committee to the Government department.</a:t>
            </a:r>
            <a:endParaRPr kumimoji="1"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6204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5117-7BA2-B878-1A61-794CEB9DBC1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B0966B0-4581-B0DF-103B-8FB1AE375D3D}"/>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194C3878-28E0-8BD3-D390-EF477598CC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9DFBAC69-24BD-713C-A693-6823AE3334DE}"/>
              </a:ext>
            </a:extLst>
          </p:cNvPr>
          <p:cNvSpPr>
            <a:spLocks noGrp="1"/>
          </p:cNvSpPr>
          <p:nvPr>
            <p:ph type="title"/>
          </p:nvPr>
        </p:nvSpPr>
        <p:spPr>
          <a:xfrm>
            <a:off x="126134" y="88011"/>
            <a:ext cx="11456266" cy="474118"/>
          </a:xfrm>
        </p:spPr>
        <p:txBody>
          <a:bodyPr>
            <a:normAutofit fontScale="90000"/>
          </a:bodyPr>
          <a:lstStyle/>
          <a:p>
            <a:r>
              <a:rPr kumimoji="1"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Employee Responsibilities </a:t>
            </a:r>
            <a:endPar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4BA2298F-6BC3-523F-7452-ECB201AC87A7}"/>
              </a:ext>
            </a:extLst>
          </p:cNvPr>
          <p:cNvSpPr txBox="1">
            <a:spLocks noChangeArrowheads="1"/>
          </p:cNvSpPr>
          <p:nvPr/>
        </p:nvSpPr>
        <p:spPr>
          <a:xfrm>
            <a:off x="126134" y="717538"/>
            <a:ext cx="11668301" cy="5838672"/>
          </a:xfrm>
          <a:prstGeom prst="rect">
            <a:avLst/>
          </a:prstGeom>
          <a:noFill/>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000" dirty="0">
                <a:latin typeface="Calibri" panose="020F0502020204030204" pitchFamily="34" charset="0"/>
                <a:ea typeface="Calibri" panose="020F0502020204030204" pitchFamily="34" charset="0"/>
                <a:cs typeface="Calibri" panose="020F0502020204030204" pitchFamily="34" charset="0"/>
              </a:rPr>
              <a:t>Ask yourself the following:</a:t>
            </a:r>
          </a:p>
          <a:p>
            <a:pPr marL="342900" indent="-342900">
              <a:lnSpc>
                <a:spcPct val="10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Do I consent to the behaviour?</a:t>
            </a:r>
          </a:p>
          <a:p>
            <a:pPr marL="342900" indent="-342900">
              <a:lnSpc>
                <a:spcPct val="10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Does the behaviour make me uncomfortable?</a:t>
            </a:r>
          </a:p>
          <a:p>
            <a:pPr marL="342900" indent="-342900">
              <a:lnSpc>
                <a:spcPct val="10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Does the behaviour violate my dignity as an individual?</a:t>
            </a:r>
          </a:p>
          <a:p>
            <a:pPr marL="342900" indent="-342900">
              <a:lnSpc>
                <a:spcPct val="10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Does it violate my right to work in dignity in a safe working environment?</a:t>
            </a:r>
          </a:p>
          <a:p>
            <a:pPr marL="342900" indent="-3429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Read the policy and procedures to follow should they experience or observe harassment or disrespectful behavior. Seek assistance if they have questions about the policy.</a:t>
            </a:r>
          </a:p>
          <a:p>
            <a:pPr marL="342900" indent="-3429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Understand what constitutes harassment to ensure that their comments or actions do not inadvertently offend another co-worker.</a:t>
            </a:r>
          </a:p>
          <a:p>
            <a:pPr marL="342900" indent="-3429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Promptly report all incidences of harassment that they are aware of, or experience, to whomever they are comfortable with.</a:t>
            </a:r>
          </a:p>
          <a:p>
            <a:pPr marL="342900" indent="-3429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Speak up, if a reported concern is not resolved, raise it again.</a:t>
            </a:r>
          </a:p>
          <a:p>
            <a:pPr marL="342900" indent="-3429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If possible, keep record of dates, time and location of all incidences of suspected harassment.</a:t>
            </a:r>
          </a:p>
          <a:p>
            <a:pPr marL="342900" indent="-342900">
              <a:lnSpc>
                <a:spcPct val="100000"/>
              </a:lnSpc>
              <a:buFont typeface="+mj-lt"/>
              <a:buAutoNum type="arabicPeriod"/>
            </a:pPr>
            <a:r>
              <a:rPr lang="en-IN" sz="2000" dirty="0">
                <a:latin typeface="Calibri" panose="020F0502020204030204" pitchFamily="34" charset="0"/>
                <a:ea typeface="Calibri" panose="020F0502020204030204" pitchFamily="34" charset="0"/>
                <a:cs typeface="Calibri" panose="020F0502020204030204" pitchFamily="34" charset="0"/>
              </a:rPr>
              <a:t>Inform a trusted colleague and try to insure that s/he is a witness to a situation where someone is being harassed. This will be useful later if you chose to file a formal complaint.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03081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B438F-3187-E590-7ACC-8BB4C5251C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C1229B-C2F8-CE74-928B-F70373883F65}"/>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E0E309EC-A97E-9E34-9663-66F239ADB4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6" name="Title 1">
            <a:extLst>
              <a:ext uri="{FF2B5EF4-FFF2-40B4-BE49-F238E27FC236}">
                <a16:creationId xmlns:a16="http://schemas.microsoft.com/office/drawing/2014/main" id="{95AAD5F2-433B-F55E-5872-0803D535856C}"/>
              </a:ext>
            </a:extLst>
          </p:cNvPr>
          <p:cNvSpPr txBox="1">
            <a:spLocks/>
          </p:cNvSpPr>
          <p:nvPr/>
        </p:nvSpPr>
        <p:spPr>
          <a:xfrm>
            <a:off x="255653" y="93911"/>
            <a:ext cx="11456266" cy="47411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kumimoji="1"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Manager Responsibilities</a:t>
            </a:r>
            <a:endPar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3">
            <a:extLst>
              <a:ext uri="{FF2B5EF4-FFF2-40B4-BE49-F238E27FC236}">
                <a16:creationId xmlns:a16="http://schemas.microsoft.com/office/drawing/2014/main" id="{E9D45F67-165A-4C3C-8F29-155F8D47D064}"/>
              </a:ext>
            </a:extLst>
          </p:cNvPr>
          <p:cNvSpPr txBox="1">
            <a:spLocks noChangeArrowheads="1"/>
          </p:cNvSpPr>
          <p:nvPr/>
        </p:nvSpPr>
        <p:spPr>
          <a:xfrm>
            <a:off x="126134" y="805813"/>
            <a:ext cx="11939732" cy="5825419"/>
          </a:xfrm>
          <a:prstGeom prst="rect">
            <a:avLst/>
          </a:prstGeom>
          <a:noFill/>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Font typeface="+mj-lt"/>
              <a:buAutoNum type="arabicPeriod"/>
            </a:pPr>
            <a:r>
              <a:rPr lang="en-IN" sz="1900" dirty="0">
                <a:latin typeface="Calibri" panose="020F0502020204030204" pitchFamily="34" charset="0"/>
                <a:ea typeface="Calibri" panose="020F0502020204030204" pitchFamily="34" charset="0"/>
                <a:cs typeface="Calibri" panose="020F0502020204030204" pitchFamily="34" charset="0"/>
              </a:rPr>
              <a:t>First and foremost, acknowledge that it is your legal responsibility to provide safe working environment for women free from sexual harassment and discrimination and that you can be held liable for sexual harassment by employees.</a:t>
            </a:r>
          </a:p>
          <a:p>
            <a:pPr marL="342900" indent="-342900" algn="just">
              <a:lnSpc>
                <a:spcPct val="100000"/>
              </a:lnSpc>
              <a:buFont typeface="+mj-lt"/>
              <a:buAutoNum type="arabicPeriod"/>
            </a:pPr>
            <a:r>
              <a:rPr lang="en-GB" sz="1900" dirty="0">
                <a:latin typeface="Calibri" panose="020F0502020204030204" pitchFamily="34" charset="0"/>
                <a:ea typeface="Calibri" panose="020F0502020204030204" pitchFamily="34" charset="0"/>
                <a:cs typeface="Calibri" panose="020F0502020204030204" pitchFamily="34" charset="0"/>
              </a:rPr>
              <a:t>Communicate to employees about Company’s policy: discrimination and harassment are unacceptable.</a:t>
            </a:r>
          </a:p>
          <a:p>
            <a:pPr marL="342900" indent="-342900" algn="just">
              <a:lnSpc>
                <a:spcPct val="100000"/>
              </a:lnSpc>
              <a:buFont typeface="+mj-lt"/>
              <a:buAutoNum type="arabicPeriod"/>
            </a:pPr>
            <a:r>
              <a:rPr lang="en-GB" sz="1900" dirty="0">
                <a:latin typeface="Calibri" panose="020F0502020204030204" pitchFamily="34" charset="0"/>
                <a:ea typeface="Calibri" panose="020F0502020204030204" pitchFamily="34" charset="0"/>
                <a:cs typeface="Calibri" panose="020F0502020204030204" pitchFamily="34" charset="0"/>
              </a:rPr>
              <a:t>Lead by example, using their own behaviour as a model for all employees.</a:t>
            </a:r>
          </a:p>
          <a:p>
            <a:pPr marL="342900" indent="-342900" algn="just">
              <a:lnSpc>
                <a:spcPct val="100000"/>
              </a:lnSpc>
              <a:buFont typeface="+mj-lt"/>
              <a:buAutoNum type="arabicPeriod"/>
            </a:pPr>
            <a:r>
              <a:rPr lang="en-GB" sz="1900" dirty="0">
                <a:latin typeface="Calibri" panose="020F0502020204030204" pitchFamily="34" charset="0"/>
                <a:ea typeface="Calibri" panose="020F0502020204030204" pitchFamily="34" charset="0"/>
                <a:cs typeface="Calibri" panose="020F0502020204030204" pitchFamily="34" charset="0"/>
              </a:rPr>
              <a:t>Respond promptly and thoroughly to any complaints of harassment -- maintain confidences and treat all sides fairly when investigating.</a:t>
            </a:r>
          </a:p>
          <a:p>
            <a:pPr marL="342900" indent="-342900" algn="just">
              <a:lnSpc>
                <a:spcPct val="100000"/>
              </a:lnSpc>
              <a:buFont typeface="+mj-lt"/>
              <a:buAutoNum type="arabicPeriod"/>
            </a:pPr>
            <a:r>
              <a:rPr lang="en-GB" sz="1900" dirty="0">
                <a:latin typeface="Calibri" panose="020F0502020204030204" pitchFamily="34" charset="0"/>
                <a:ea typeface="Calibri" panose="020F0502020204030204" pitchFamily="34" charset="0"/>
                <a:cs typeface="Calibri" panose="020F0502020204030204" pitchFamily="34" charset="0"/>
              </a:rPr>
              <a:t>Gather feedback to evaluate and continually improve policy compliance.</a:t>
            </a:r>
          </a:p>
          <a:p>
            <a:pPr marL="342900" indent="-342900" algn="just">
              <a:lnSpc>
                <a:spcPct val="100000"/>
              </a:lnSpc>
              <a:buFont typeface="+mj-lt"/>
              <a:buAutoNum type="arabicPeriod"/>
            </a:pPr>
            <a:r>
              <a:rPr lang="en-IN" sz="1900" dirty="0">
                <a:latin typeface="Calibri" panose="020F0502020204030204" pitchFamily="34" charset="0"/>
                <a:ea typeface="Calibri" panose="020F0502020204030204" pitchFamily="34" charset="0"/>
                <a:cs typeface="Calibri" panose="020F0502020204030204" pitchFamily="34" charset="0"/>
              </a:rPr>
              <a:t>Know that sexual harassment can have a devastating effect upon the health, confidence, morale and performance of those affected by it. The anxiety and stress produced by sexual harassment commonly leads to those subjected to it taking time off work due to sickness, being less efficient at work, or leaving their job to seek work elsewhere.</a:t>
            </a:r>
          </a:p>
          <a:p>
            <a:pPr marL="342900" indent="-342900" algn="just">
              <a:lnSpc>
                <a:spcPct val="100000"/>
              </a:lnSpc>
              <a:buFont typeface="+mj-lt"/>
              <a:buAutoNum type="arabicPeriod"/>
            </a:pPr>
            <a:r>
              <a:rPr lang="en-IN" sz="1900" dirty="0">
                <a:latin typeface="Calibri" panose="020F0502020204030204" pitchFamily="34" charset="0"/>
                <a:ea typeface="Calibri" panose="020F0502020204030204" pitchFamily="34" charset="0"/>
                <a:cs typeface="Calibri" panose="020F0502020204030204" pitchFamily="34" charset="0"/>
              </a:rPr>
              <a:t>Understand the reasons why women remain silent about sexual harassment. An absence of complaints about sexual harassment does not necessarily mean an absence of sexual harassment. It may mean that the recipients of sexual harassment think that there is no point in complaining.</a:t>
            </a:r>
          </a:p>
          <a:p>
            <a:pPr marL="342900" indent="-342900" algn="just">
              <a:lnSpc>
                <a:spcPct val="100000"/>
              </a:lnSpc>
              <a:buFont typeface="+mj-lt"/>
              <a:buAutoNum type="arabicPeriod"/>
            </a:pPr>
            <a:r>
              <a:rPr lang="en-IN" sz="1900" dirty="0">
                <a:latin typeface="Calibri" panose="020F0502020204030204" pitchFamily="34" charset="0"/>
                <a:ea typeface="Calibri" panose="020F0502020204030204" pitchFamily="34" charset="0"/>
                <a:cs typeface="Calibri" panose="020F0502020204030204" pitchFamily="34" charset="0"/>
              </a:rPr>
              <a:t>Recognise the tangible and intangible expenses and losses organisations experience.</a:t>
            </a:r>
          </a:p>
          <a:p>
            <a:pPr marL="342900" indent="-342900" algn="just">
              <a:lnSpc>
                <a:spcPct val="100000"/>
              </a:lnSpc>
              <a:buFont typeface="+mj-lt"/>
              <a:buAutoNum type="arabicPeriod"/>
            </a:pPr>
            <a:r>
              <a:rPr lang="en-GB" sz="1900" dirty="0">
                <a:latin typeface="Calibri" panose="020F0502020204030204" pitchFamily="34" charset="0"/>
                <a:ea typeface="Calibri" panose="020F0502020204030204" pitchFamily="34" charset="0"/>
                <a:cs typeface="Calibri" panose="020F0502020204030204" pitchFamily="34" charset="0"/>
              </a:rPr>
              <a:t>Create a culture which promotes compliance, encourages employees to raise their policy questions and concerns and prohibits retribution.</a:t>
            </a:r>
          </a:p>
          <a:p>
            <a:pPr marL="342900" indent="-342900" algn="just">
              <a:buFont typeface="+mj-lt"/>
              <a:buAutoNum type="arabicPeriod"/>
            </a:pPr>
            <a:endParaRPr lang="en-GB" sz="19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endParaRPr lang="en-GB" sz="1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362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4A30-2D7D-24F7-056C-69A8172BE4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72D4EA-2FDA-419E-BD1F-1467F45D5C4F}"/>
              </a:ext>
            </a:extLst>
          </p:cNvPr>
          <p:cNvSpPr/>
          <p:nvPr/>
        </p:nvSpPr>
        <p:spPr>
          <a:xfrm>
            <a:off x="0" y="11017"/>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70EEF3D5-DC21-0B4D-2557-F658EB4938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
        <p:nvSpPr>
          <p:cNvPr id="4" name="Title 1">
            <a:extLst>
              <a:ext uri="{FF2B5EF4-FFF2-40B4-BE49-F238E27FC236}">
                <a16:creationId xmlns:a16="http://schemas.microsoft.com/office/drawing/2014/main" id="{2B665EB1-688B-EC48-489C-5AD7600FA6E2}"/>
              </a:ext>
            </a:extLst>
          </p:cNvPr>
          <p:cNvSpPr>
            <a:spLocks noGrp="1"/>
          </p:cNvSpPr>
          <p:nvPr>
            <p:ph type="title"/>
          </p:nvPr>
        </p:nvSpPr>
        <p:spPr>
          <a:xfrm>
            <a:off x="126134" y="182666"/>
            <a:ext cx="11456266" cy="474118"/>
          </a:xfrm>
        </p:spPr>
        <p:txBody>
          <a:bodyPr>
            <a:noAutofit/>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Steps to Take if Harassed </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93D16ABC-E3D7-7CCC-0D1C-B1FFDA06EBC1}"/>
              </a:ext>
            </a:extLst>
          </p:cNvPr>
          <p:cNvSpPr txBox="1">
            <a:spLocks noChangeArrowheads="1"/>
          </p:cNvSpPr>
          <p:nvPr/>
        </p:nvSpPr>
        <p:spPr>
          <a:xfrm>
            <a:off x="126134" y="951873"/>
            <a:ext cx="12065866" cy="36918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indent="-533400">
              <a:buFontTx/>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Remain professional.</a:t>
            </a:r>
          </a:p>
          <a:p>
            <a:pPr marL="533400" indent="-533400">
              <a:buFontTx/>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Be direct with the harasser. Let him/her know that you do not like the behavior and that the conduct is unwanted and unwelcome, and you want it to stop immediately. </a:t>
            </a:r>
          </a:p>
          <a:p>
            <a:pPr marL="533400" indent="-533400">
              <a:buFontTx/>
              <a:buAutoNum type="arabicPeriod"/>
            </a:pPr>
            <a:r>
              <a:rPr lang="en-US" altLang="en-US" sz="2000" dirty="0">
                <a:latin typeface="Calibri" panose="020F0502020204030204" pitchFamily="34" charset="0"/>
                <a:ea typeface="Calibri" panose="020F0502020204030204" pitchFamily="34" charset="0"/>
                <a:cs typeface="Calibri" panose="020F0502020204030204" pitchFamily="34" charset="0"/>
              </a:rPr>
              <a:t>Go to the Reporting Manager and explain the circumstances. Be sure to take with you documented dates, times, and specific occurrences if you have them. Also, report the incident, if the appropriate is Reporting Manager unavailable, or is the offender, report the incident directly to the Internal Complaints Committee(ICC).</a:t>
            </a:r>
          </a:p>
          <a:p>
            <a:pPr marL="514350" indent="-514350" eaLnBrk="1" hangingPunct="1">
              <a:lnSpc>
                <a:spcPct val="90000"/>
              </a:lnSpc>
              <a:buFontTx/>
              <a:buAutoNum type="arabicPeriod" startAt="4"/>
              <a:defRPr/>
            </a:pPr>
            <a:r>
              <a:rPr lang="en-US" altLang="en-US" sz="2000" dirty="0">
                <a:latin typeface="Calibri" panose="020F0502020204030204" pitchFamily="34" charset="0"/>
                <a:ea typeface="Calibri" panose="020F0502020204030204" pitchFamily="34" charset="0"/>
                <a:cs typeface="Calibri" panose="020F0502020204030204" pitchFamily="34" charset="0"/>
              </a:rPr>
              <a:t>When reporting the harassment, be prepared to share all the facts about the incident(s).  Write down the important details of the incidents(s).  Collect your thoughts before you begin; remember to provide who, what, when, where, how, and any witnesses.</a:t>
            </a:r>
          </a:p>
          <a:p>
            <a:pPr marL="514350" indent="-514350" eaLnBrk="1" hangingPunct="1">
              <a:lnSpc>
                <a:spcPct val="90000"/>
              </a:lnSpc>
              <a:buFontTx/>
              <a:buAutoNum type="arabicPeriod" startAt="5"/>
              <a:defRPr/>
            </a:pPr>
            <a:r>
              <a:rPr lang="en-US" altLang="en-US" sz="2000" dirty="0">
                <a:latin typeface="Calibri" panose="020F0502020204030204" pitchFamily="34" charset="0"/>
                <a:ea typeface="Calibri" panose="020F0502020204030204" pitchFamily="34" charset="0"/>
                <a:cs typeface="Calibri" panose="020F0502020204030204" pitchFamily="34" charset="0"/>
              </a:rPr>
              <a:t>Think about how the situation could be resolved. </a:t>
            </a:r>
          </a:p>
        </p:txBody>
      </p:sp>
    </p:spTree>
    <p:extLst>
      <p:ext uri="{BB962C8B-B14F-4D97-AF65-F5344CB8AC3E}">
        <p14:creationId xmlns:p14="http://schemas.microsoft.com/office/powerpoint/2010/main" val="519938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700B-75B8-826A-7E4B-C7CCB708C7E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8CA800D-8B26-2040-7025-D9784A0E8BD5}"/>
              </a:ext>
            </a:extLst>
          </p:cNvPr>
          <p:cNvSpPr/>
          <p:nvPr/>
        </p:nvSpPr>
        <p:spPr>
          <a:xfrm>
            <a:off x="-1" y="0"/>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rPr>
              <a:t>For complaints: </a:t>
            </a:r>
          </a:p>
          <a:p>
            <a:pPr marL="0" marR="0" lvl="0" indent="0"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hlinkClick r:id="rId3"/>
              </a:rPr>
              <a:t>posh@venturesoft.ai</a:t>
            </a: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Graphic 1">
            <a:extLst>
              <a:ext uri="{FF2B5EF4-FFF2-40B4-BE49-F238E27FC236}">
                <a16:creationId xmlns:a16="http://schemas.microsoft.com/office/drawing/2014/main" id="{8DBC16B5-00EE-3E63-5470-25D89F5FD6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46795" y="96288"/>
            <a:ext cx="2119071" cy="323437"/>
          </a:xfrm>
          <a:prstGeom prst="rect">
            <a:avLst/>
          </a:prstGeom>
        </p:spPr>
      </p:pic>
      <p:sp>
        <p:nvSpPr>
          <p:cNvPr id="8" name="Title 1">
            <a:extLst>
              <a:ext uri="{FF2B5EF4-FFF2-40B4-BE49-F238E27FC236}">
                <a16:creationId xmlns:a16="http://schemas.microsoft.com/office/drawing/2014/main" id="{E750C382-B1D4-B3E1-B444-0CB289530710}"/>
              </a:ext>
            </a:extLst>
          </p:cNvPr>
          <p:cNvSpPr txBox="1">
            <a:spLocks/>
          </p:cNvSpPr>
          <p:nvPr/>
        </p:nvSpPr>
        <p:spPr>
          <a:xfrm>
            <a:off x="251747" y="96288"/>
            <a:ext cx="11456266" cy="47411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kern="1200">
                <a:solidFill>
                  <a:schemeClr val="tx2">
                    <a:lumMod val="50000"/>
                  </a:schemeClr>
                </a:solidFill>
                <a:latin typeface="+mj-lt"/>
                <a:ea typeface="+mj-ea"/>
                <a:cs typeface="+mj-cs"/>
              </a:defRPr>
            </a:lvl1pPr>
          </a:lstStyle>
          <a:p>
            <a:r>
              <a:rPr lang="en-US" altLang="en-US" dirty="0">
                <a:latin typeface="Calibri" panose="020F0502020204030204" pitchFamily="34" charset="0"/>
                <a:ea typeface="Calibri" panose="020F0502020204030204" pitchFamily="34" charset="0"/>
                <a:cs typeface="Calibri" panose="020F0502020204030204" pitchFamily="34" charset="0"/>
              </a:rPr>
              <a:t>Internal Complaints Committee</a:t>
            </a: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9" name="Content Placeholder 5">
            <a:extLst>
              <a:ext uri="{FF2B5EF4-FFF2-40B4-BE49-F238E27FC236}">
                <a16:creationId xmlns:a16="http://schemas.microsoft.com/office/drawing/2014/main" id="{CB239C1B-61A7-AED8-0978-A77B93C202B3}"/>
              </a:ext>
            </a:extLst>
          </p:cNvPr>
          <p:cNvGraphicFramePr>
            <a:graphicFrameLocks/>
          </p:cNvGraphicFramePr>
          <p:nvPr>
            <p:extLst>
              <p:ext uri="{D42A27DB-BD31-4B8C-83A1-F6EECF244321}">
                <p14:modId xmlns:p14="http://schemas.microsoft.com/office/powerpoint/2010/main" val="1128874762"/>
              </p:ext>
            </p:extLst>
          </p:nvPr>
        </p:nvGraphicFramePr>
        <p:xfrm>
          <a:off x="251747" y="846943"/>
          <a:ext cx="11688505" cy="2449085"/>
        </p:xfrm>
        <a:graphic>
          <a:graphicData uri="http://schemas.openxmlformats.org/drawingml/2006/table">
            <a:tbl>
              <a:tblPr firstRow="1" bandRow="1">
                <a:tableStyleId>{5C22544A-7EE6-4342-B048-85BDC9FD1C3A}</a:tableStyleId>
              </a:tblPr>
              <a:tblGrid>
                <a:gridCol w="3914131">
                  <a:extLst>
                    <a:ext uri="{9D8B030D-6E8A-4147-A177-3AD203B41FA5}">
                      <a16:colId xmlns:a16="http://schemas.microsoft.com/office/drawing/2014/main" val="20000"/>
                    </a:ext>
                  </a:extLst>
                </a:gridCol>
                <a:gridCol w="7774374">
                  <a:extLst>
                    <a:ext uri="{9D8B030D-6E8A-4147-A177-3AD203B41FA5}">
                      <a16:colId xmlns:a16="http://schemas.microsoft.com/office/drawing/2014/main" val="20001"/>
                    </a:ext>
                  </a:extLst>
                </a:gridCol>
              </a:tblGrid>
              <a:tr h="322533">
                <a:tc gridSpan="2">
                  <a:txBody>
                    <a:bodyPr/>
                    <a:lstStyle/>
                    <a:p>
                      <a:r>
                        <a:rPr lang="en-US" sz="1800" dirty="0"/>
                        <a:t>50% shall always be women</a:t>
                      </a:r>
                    </a:p>
                  </a:txBody>
                  <a:tcPr marT="45687" marB="45687"/>
                </a:tc>
                <a:tc hMerge="1">
                  <a:txBody>
                    <a:bodyPr/>
                    <a:lstStyle/>
                    <a:p>
                      <a:endParaRPr lang="en-US" dirty="0"/>
                    </a:p>
                  </a:txBody>
                  <a:tcPr/>
                </a:tc>
                <a:extLst>
                  <a:ext uri="{0D108BD9-81ED-4DB2-BD59-A6C34878D82A}">
                    <a16:rowId xmlns:a16="http://schemas.microsoft.com/office/drawing/2014/main" val="10000"/>
                  </a:ext>
                </a:extLst>
              </a:tr>
              <a:tr h="474532">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Chairman</a:t>
                      </a:r>
                    </a:p>
                  </a:txBody>
                  <a:tcPr marT="45687" marB="45687"/>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Women</a:t>
                      </a:r>
                      <a:r>
                        <a:rPr lang="en-US" sz="2000" baseline="0" dirty="0">
                          <a:latin typeface="Calibri" panose="020F0502020204030204" pitchFamily="34" charset="0"/>
                          <a:ea typeface="Calibri" panose="020F0502020204030204" pitchFamily="34" charset="0"/>
                          <a:cs typeface="Calibri" panose="020F0502020204030204" pitchFamily="34" charset="0"/>
                        </a:rPr>
                        <a:t> Working at senior level as employee; </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T="45687" marB="45687"/>
                </a:tc>
                <a:extLst>
                  <a:ext uri="{0D108BD9-81ED-4DB2-BD59-A6C34878D82A}">
                    <a16:rowId xmlns:a16="http://schemas.microsoft.com/office/drawing/2014/main" val="10001"/>
                  </a:ext>
                </a:extLst>
              </a:tr>
              <a:tr h="727546">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2</a:t>
                      </a:r>
                      <a:r>
                        <a:rPr lang="en-US" sz="2000" baseline="0" dirty="0">
                          <a:latin typeface="Calibri" panose="020F0502020204030204" pitchFamily="34" charset="0"/>
                          <a:ea typeface="Calibri" panose="020F0502020204030204" pitchFamily="34" charset="0"/>
                          <a:cs typeface="Calibri" panose="020F0502020204030204" pitchFamily="34" charset="0"/>
                        </a:rPr>
                        <a:t> members </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T="45687" marB="45687"/>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From amongst the employees committed to the cause of women/ having legal knowledge/experience in social work</a:t>
                      </a:r>
                    </a:p>
                  </a:txBody>
                  <a:tcPr marT="45687" marB="45687"/>
                </a:tc>
                <a:extLst>
                  <a:ext uri="{0D108BD9-81ED-4DB2-BD59-A6C34878D82A}">
                    <a16:rowId xmlns:a16="http://schemas.microsoft.com/office/drawing/2014/main" val="10002"/>
                  </a:ext>
                </a:extLst>
              </a:tr>
              <a:tr h="881313">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Member</a:t>
                      </a:r>
                    </a:p>
                  </a:txBody>
                  <a:tcPr marT="45687" marB="45687"/>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From amongst</a:t>
                      </a:r>
                      <a:r>
                        <a:rPr lang="en-US" sz="2000" baseline="0" dirty="0">
                          <a:latin typeface="Calibri" panose="020F0502020204030204" pitchFamily="34" charset="0"/>
                          <a:ea typeface="Calibri" panose="020F0502020204030204" pitchFamily="34" charset="0"/>
                          <a:cs typeface="Calibri" panose="020F0502020204030204" pitchFamily="34" charset="0"/>
                        </a:rPr>
                        <a:t> NGO/ associations committed to the cause of women or a person familiar with the issue of sexual harassment</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T="45687" marB="45687"/>
                </a:tc>
                <a:extLst>
                  <a:ext uri="{0D108BD9-81ED-4DB2-BD59-A6C34878D82A}">
                    <a16:rowId xmlns:a16="http://schemas.microsoft.com/office/drawing/2014/main" val="10003"/>
                  </a:ext>
                </a:extLst>
              </a:tr>
            </a:tbl>
          </a:graphicData>
        </a:graphic>
      </p:graphicFrame>
      <p:graphicFrame>
        <p:nvGraphicFramePr>
          <p:cNvPr id="4" name="Table 3">
            <a:extLst>
              <a:ext uri="{FF2B5EF4-FFF2-40B4-BE49-F238E27FC236}">
                <a16:creationId xmlns:a16="http://schemas.microsoft.com/office/drawing/2014/main" id="{59B08C28-7819-A19E-9BD7-858B87B9BC0D}"/>
              </a:ext>
            </a:extLst>
          </p:cNvPr>
          <p:cNvGraphicFramePr>
            <a:graphicFrameLocks noGrp="1"/>
          </p:cNvGraphicFramePr>
          <p:nvPr>
            <p:extLst>
              <p:ext uri="{D42A27DB-BD31-4B8C-83A1-F6EECF244321}">
                <p14:modId xmlns:p14="http://schemas.microsoft.com/office/powerpoint/2010/main" val="120020938"/>
              </p:ext>
            </p:extLst>
          </p:nvPr>
        </p:nvGraphicFramePr>
        <p:xfrm>
          <a:off x="251746" y="4417779"/>
          <a:ext cx="11688506" cy="1559560"/>
        </p:xfrm>
        <a:graphic>
          <a:graphicData uri="http://schemas.openxmlformats.org/drawingml/2006/table">
            <a:tbl>
              <a:tblPr firstRow="1" bandRow="1">
                <a:tableStyleId>{5C22544A-7EE6-4342-B048-85BDC9FD1C3A}</a:tableStyleId>
              </a:tblPr>
              <a:tblGrid>
                <a:gridCol w="5844253">
                  <a:extLst>
                    <a:ext uri="{9D8B030D-6E8A-4147-A177-3AD203B41FA5}">
                      <a16:colId xmlns:a16="http://schemas.microsoft.com/office/drawing/2014/main" val="538231787"/>
                    </a:ext>
                  </a:extLst>
                </a:gridCol>
                <a:gridCol w="5844253">
                  <a:extLst>
                    <a:ext uri="{9D8B030D-6E8A-4147-A177-3AD203B41FA5}">
                      <a16:colId xmlns:a16="http://schemas.microsoft.com/office/drawing/2014/main" val="3563563686"/>
                    </a:ext>
                  </a:extLst>
                </a:gridCol>
              </a:tblGrid>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Member</a:t>
                      </a:r>
                      <a:endParaRPr lang="en-IN"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Name</a:t>
                      </a:r>
                      <a:endParaRPr lang="en-IN"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878089"/>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Chairman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Ashwini K</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27246868"/>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Members</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Vidya Bhat, Murali N S</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588371264"/>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 Member</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Kalyan N Chakravarthy</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857207743"/>
                  </a:ext>
                </a:extLst>
              </a:tr>
            </a:tbl>
          </a:graphicData>
        </a:graphic>
      </p:graphicFrame>
    </p:spTree>
    <p:extLst>
      <p:ext uri="{BB962C8B-B14F-4D97-AF65-F5344CB8AC3E}">
        <p14:creationId xmlns:p14="http://schemas.microsoft.com/office/powerpoint/2010/main" val="1499828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8679C-595B-EEC9-53AE-411CE13B42C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D17EEF2-BD69-B019-6259-B73BB8448BE3}"/>
              </a:ext>
            </a:extLst>
          </p:cNvPr>
          <p:cNvSpPr/>
          <p:nvPr/>
        </p:nvSpPr>
        <p:spPr>
          <a:xfrm>
            <a:off x="0" y="0"/>
            <a:ext cx="12192000" cy="6858000"/>
          </a:xfrm>
          <a:prstGeom prst="rect">
            <a:avLst/>
          </a:prstGeom>
          <a:solidFill>
            <a:srgbClr val="C7E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rPr>
              <a:t>Thank you</a:t>
            </a:r>
          </a:p>
        </p:txBody>
      </p:sp>
      <p:pic>
        <p:nvPicPr>
          <p:cNvPr id="2" name="Graphic 1">
            <a:extLst>
              <a:ext uri="{FF2B5EF4-FFF2-40B4-BE49-F238E27FC236}">
                <a16:creationId xmlns:a16="http://schemas.microsoft.com/office/drawing/2014/main" id="{E4BEA260-17FB-3433-47FD-D11B4B6C23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6795" y="96288"/>
            <a:ext cx="2119071" cy="323437"/>
          </a:xfrm>
          <a:prstGeom prst="rect">
            <a:avLst/>
          </a:prstGeom>
        </p:spPr>
      </p:pic>
    </p:spTree>
    <p:extLst>
      <p:ext uri="{BB962C8B-B14F-4D97-AF65-F5344CB8AC3E}">
        <p14:creationId xmlns:p14="http://schemas.microsoft.com/office/powerpoint/2010/main" val="354750253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933</TotalTime>
  <Words>2708</Words>
  <Application>Microsoft Office PowerPoint</Application>
  <PresentationFormat>Widescreen</PresentationFormat>
  <Paragraphs>206</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Calibri</vt:lpstr>
      <vt:lpstr>Poppins</vt:lpstr>
      <vt:lpstr>1_Office Theme</vt:lpstr>
      <vt:lpstr>PowerPoint Presentation</vt:lpstr>
      <vt:lpstr>PowerPoint Presentation</vt:lpstr>
      <vt:lpstr>Sexual harassment is not……</vt:lpstr>
      <vt:lpstr>Workplace</vt:lpstr>
      <vt:lpstr>DEFINITION</vt:lpstr>
      <vt:lpstr>PowerPoint Presentation</vt:lpstr>
      <vt:lpstr>“Of a Sexual Nature”</vt:lpstr>
      <vt:lpstr>PowerPoint Presentation</vt:lpstr>
      <vt:lpstr>Sexual Orientation Harassment </vt:lpstr>
      <vt:lpstr>Discussion of Intent vs. Impact </vt:lpstr>
      <vt:lpstr>PowerPoint Presentation</vt:lpstr>
      <vt:lpstr>Questions to ask yourself:</vt:lpstr>
      <vt:lpstr>“Affects working conditions or creates a hostile work environment”</vt:lpstr>
      <vt:lpstr>Types &amp; examples of Sexual Harassment</vt:lpstr>
      <vt:lpstr>Verbal-Examples of Sexual Harassment </vt:lpstr>
      <vt:lpstr>PowerPoint Presentation</vt:lpstr>
      <vt:lpstr> Sexual Harassment Preventative Steps </vt:lpstr>
      <vt:lpstr>PowerPoint Presentation</vt:lpstr>
      <vt:lpstr>Employee Responsibilities </vt:lpstr>
      <vt:lpstr>PowerPoint Presentation</vt:lpstr>
      <vt:lpstr>Steps to Take if Harassed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Sharma</dc:creator>
  <cp:lastModifiedBy>Ashwini B Kawatal</cp:lastModifiedBy>
  <cp:revision>4</cp:revision>
  <dcterms:created xsi:type="dcterms:W3CDTF">2025-06-18T09:07:26Z</dcterms:created>
  <dcterms:modified xsi:type="dcterms:W3CDTF">2026-01-28T08:58:17Z</dcterms:modified>
</cp:coreProperties>
</file>